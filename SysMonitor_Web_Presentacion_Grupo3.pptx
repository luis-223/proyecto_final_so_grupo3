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3e151d08-81da-5fa6-10cc-9e6e1398a6e2}">
          <p14:sldIdLst>
            <p14:sldId id="256"/>
            <p14:sldId id="257"/>
            <p14:sldId id="258"/>
          </p14:sldIdLst>
        </p14:section>
        <p14:section name="Despliegue y configuración" id="{70174b27-5a23-7e50-7dbf-96c8fd7f6e36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Seguridad e integración" id="{71dd8f87-36d7-03dd-c293-4502f4c8a0fa}">
          <p14:sldIdLst>
            <p14:sldId id="265"/>
            <p14:sldId id="266"/>
            <p14:sldId id="267"/>
          </p14:sldIdLst>
        </p14:section>
        <p14:section name="Módulos" id="{cf33662c-cbb5-113b-17ae-aa22e6567754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Defensa" id="{dc38ce4c-706a-7f06-5726-8b9041e8c0f7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201B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4201B"/>
                </a:solidFill>
                <a:latin typeface="+mn-lt"/>
              </a:rPr>
              <a:t>Espera promedio por algoritmo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Espera promedio</c:v>
                </c:pt>
              </c:strCache>
            </c:strRef>
          </c:tx>
          <c:spPr>
            <a:solidFill>
              <a:srgbClr val="52625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0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262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62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7A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62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2625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FCFS</c:v>
                  </c:pt>
                  <c:pt idx="1">
                    <c:v>SJF</c:v>
                  </c:pt>
                  <c:pt idx="2">
                    <c:v>SRTF</c:v>
                  </c:pt>
                  <c:pt idx="3">
                    <c:v>Round Robin</c:v>
                  </c:pt>
                  <c:pt idx="4">
                    <c:v>Prioridades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</c:v>
                </c:pt>
                <c:pt idx="1">
                  <c:v>5.6</c:v>
                </c:pt>
                <c:pt idx="2">
                  <c:v>5.2</c:v>
                </c:pt>
                <c:pt idx="3">
                  <c:v>10.6</c:v>
                </c:pt>
                <c:pt idx="4">
                  <c:v>7.8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420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2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2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proyecto. Cada integrante expone su módulo funcionando desde la URL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Aplicación web que muestra el estado real del Linux donde corre. Los datos vienen del kernel (/proc) y de comandos de solo lectura; M3 y M4 son simuladores.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Reemplazar 'Integrante N' por nombre y carné de cada persona antes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Flujo: el navegador pide /api/... con fetch (misma sesión y token CSRF), Laravel valida rol, el servicio lee /proc o ejecuta un comando de la lista blanca y devuelve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completo del proyecto. Todo el servidor es software libre sobre Debian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muestra la VM por SSH durante la defensa. Con NAT: anfitrión 8080 → invitado 80 y 2222 →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script hace en orden: paquetes, clonar, composer, .env y migraciones, permisos y VirtualHost. También existe la guía manual paso a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apache/sysmonitor.conf se copia a /etc/apache2/sites-available/. En el VPS, certbot --apache crea la versión :443 con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Principio de mínimo privilegio: www-data solo escribe donde hace falta. .env y la base .sqlite nunca se suben al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del enunciado, sección 6. Ningún dato del usuario se concatena en un comando.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sin registro público. Roles Administrador y Observador. Bitácora visible solo para Administrador; también registra intentos rechazados.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resume el sistema con datos de /proc y muestra las últimas acciones administrativas de la bitácora.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de SO: estados de un proceso, información del proceso (PCB) en /proc/[pid], señales y prioridad (nice). El % de CPU se calcula con dos lecturas de utime+stime.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de la demo: lanzar sleep, SIGSTOP (T), SIGCONT (S), renice 10, SIGTERM. Con el rol Observador no aparecen los botones.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de CPU a partir de dos lecturas de /proc/stat en jiffies. La memoria usada se calcula igual que el comando free. La vista consulta /api/cpu-memoria cada 2 a 5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prueba del grupo: P1 a P5 con (llegada, ráfaga, prioridad) = (0,5,3) (1,3,1) (2,8,4) (3,6,2) (4,2,5), quantum 2. SRTF minimiza la espera promedio en este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Gantt del caso del grupo con SRTF: P1[0-1] P2[1-4] P5[4-6] P1[6-10] P4[10-16] P3[16-24]. Se dibuja en la vista con los tramos que devuelve Planificador::simular.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Concepto: estado seguro vs inseguro. Necesidad = Máximo − Asignación. Ejemplo seguro (Silberschatz) con secuencia P1, P3, P4, P0, P2.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 interbloqueo: ciclo P0 → B → P1 → C → P2 → A → P0. Arista P→R = solicita; R→P = asignado. Recuperación sugerida: abortar P0.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Comandos con argumentos fijos vía ComandoSeguro. Usuario humano: UID &gt;= 1000, distinto de 65534 y con shell de login. El explorador resuelve rutas con realpath dentro de /var/www.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protegida; cada integrante trabaja en su rama; otro integrante revisa; M6 hace el merge. Mínimo 10 commits significativos por integrante.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del enunciado: presencial y obligatoria para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 sugerido: M6, M1, M2, M3, M4, M5. Todos desde la URL pública. Cuentas Administrador y Observador del seeder.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Practicar estos comandos antes de la defensa. Se pueden pedir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de estudio para las preguntas individuales. Cada integrante debe poder explicar su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 individuales.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2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SysMonitor Web · Grupo 3 · Sistemas Operativos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A"/>
                </a:solidFill>
              </a:rPr>
              <a:t>SysMonitor Web · Grupo 3 · Sistemas Operativos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FB3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SysMonitor Web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46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DA"/>
                </a:solidFill>
              </a:rPr>
              <a:t>Monitoreo y administración de Linux desde el navegador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Proyecto Final · Sistemas Operativos · Grupo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Presentación presencial · sábado 31 de octubre de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AA"/>
                </a:solidFill>
              </a:rPr>
              <a:t>Laravel 12 · PHP 8.2 · Apache 2 · Debian 12</a:t>
            </a:r>
            <a:endParaRPr lang="en-US" sz="1400" dirty="0"/>
          </a:p>
        </p:txBody>
      </p:sp>
      <p:sp>
        <p:nvSpPr>
          <p:cNvPr id="6" name="Terminal decorativa"/>
          <p:cNvSpPr/>
          <p:nvPr/>
        </p:nvSpPr>
        <p:spPr>
          <a:xfrm>
            <a:off x="7315200" y="1737360"/>
            <a:ext cx="4325112" cy="3383280"/>
          </a:xfrm>
          <a:prstGeom prst="roundRect">
            <a:avLst>
              <a:gd name="adj" fmla="val 3243"/>
            </a:avLst>
          </a:prstGeom>
          <a:solidFill>
            <a:srgbClr val="0B1210"/>
          </a:solidFill>
          <a:ln w="12700">
            <a:solidFill>
              <a:srgbClr val="2B3A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1938528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1938528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1938528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0" y="23774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/proc/loadavg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 0.10 0.05 1/312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-3 /proc/meminfo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MemTotal:  7937640 kB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MemFree:   6890124 kB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kill -STOP &lt;pid&gt;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SysMonitor Web?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Una aplicación web para observar y administrar, desde el navegador, el sistema operativo Linux donde está instalada.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8036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Lee información real del kernel desde /proc: procesos, CPU y memoria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Ejecuta comandos del sistema de forma controlada: discos, particiones y usuarios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Incluye simuladores de planificación de CPU y de interbloqueos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Acceso con dos roles: Administrador y Observador</a:t>
            </a:r>
            <a:endParaRPr lang="en-US" sz="1700" dirty="0"/>
          </a:p>
        </p:txBody>
      </p:sp>
      <p:sp>
        <p:nvSpPr>
          <p:cNvPr id="6" name="Tarjeta"/>
          <p:cNvSpPr/>
          <p:nvPr/>
        </p:nvSpPr>
        <p:spPr>
          <a:xfrm>
            <a:off x="6675120" y="1463040"/>
            <a:ext cx="2404872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675120" y="173736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283464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módulos base (M1–M6)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9235440" y="1463040"/>
            <a:ext cx="2404872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9235440" y="173736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9372600" y="283464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integrantes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6675120" y="3794760"/>
            <a:ext cx="2404872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675120" y="406908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516636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algoritmos de planificación</a:t>
            </a:r>
            <a:endParaRPr lang="en-US" sz="1500" dirty="0"/>
          </a:p>
        </p:txBody>
      </p:sp>
      <p:sp>
        <p:nvSpPr>
          <p:cNvPr id="15" name="Tarjeta"/>
          <p:cNvSpPr/>
          <p:nvPr/>
        </p:nvSpPr>
        <p:spPr>
          <a:xfrm>
            <a:off x="9235440" y="3794760"/>
            <a:ext cx="2404872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235440" y="406908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17" name="Text 14"/>
          <p:cNvSpPr txBox="1"/>
          <p:nvPr/>
        </p:nvSpPr>
        <p:spPr>
          <a:xfrm>
            <a:off x="9372600" y="516636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comandos en lista blanca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Integrantes y módulos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  <a:gridCol w="423367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Integrante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Módulo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Rama de GitHub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Integrante 1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M1 — Procesos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feature/m1-procesos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Integrante 2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M2 — CPU y Memoria  +  M5 — Almacenamiento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feature/m2-cpu-memoria · feature/m5-almacenamiento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Integrante 3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M3 — Planificación de CPU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feature/m3-planificacion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Integrante 4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M4 — Interbloqueos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feature/m4-interbloqueos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Integrante 5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M6 — Integración y Bitácora (líder técnico)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feature/m6-integracion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arjeta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822960" y="55321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M2 y M5 comparten técnica: lectura de /proc y comandos de solo lectura. Cada integrante responde por su código y por el concepto de SO que aplica.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50876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írculo de ícono"/>
          <p:cNvSpPr/>
          <p:nvPr/>
        </p:nvSpPr>
        <p:spPr>
          <a:xfrm>
            <a:off x="1188720" y="1691640"/>
            <a:ext cx="640080" cy="640080"/>
          </a:xfrm>
          <a:prstGeom prst="ellipse">
            <a:avLst/>
          </a:prstGeom>
          <a:solidFill>
            <a:srgbClr val="2F7DA3"/>
          </a:solidFill>
          <a:ln w="12700">
            <a:solidFill>
              <a:srgbClr val="2F7DA3"/>
            </a:solidFill>
            <a:prstDash val="solid"/>
          </a:ln>
        </p:spPr>
      </p:sp>
      <p:pic>
        <p:nvPicPr>
          <p:cNvPr id="6" name="Image 0" descr="Desk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8516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Navegador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28346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Blade · Bootstrap 5 · Chart.js · fetch JSON</a:t>
            </a:r>
            <a:endParaRPr lang="en-US" sz="1300" dirty="0"/>
          </a:p>
        </p:txBody>
      </p:sp>
      <p:sp>
        <p:nvSpPr>
          <p:cNvPr id="9" name="Flecha"/>
          <p:cNvSpPr/>
          <p:nvPr/>
        </p:nvSpPr>
        <p:spPr>
          <a:xfrm>
            <a:off x="2505456" y="2578608"/>
            <a:ext cx="29260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arjeta"/>
          <p:cNvSpPr/>
          <p:nvPr/>
        </p:nvSpPr>
        <p:spPr>
          <a:xfrm>
            <a:off x="2834640" y="150876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Círculo de ícono"/>
          <p:cNvSpPr/>
          <p:nvPr/>
        </p:nvSpPr>
        <p:spPr>
          <a:xfrm>
            <a:off x="3474720" y="1691640"/>
            <a:ext cx="640080" cy="640080"/>
          </a:xfrm>
          <a:prstGeom prst="ellipse">
            <a:avLst/>
          </a:prstGeom>
          <a:solidFill>
            <a:srgbClr val="D9922B"/>
          </a:solidFill>
          <a:ln w="12700">
            <a:solidFill>
              <a:srgbClr val="D9922B"/>
            </a:solidFill>
            <a:prstDash val="solid"/>
          </a:ln>
        </p:spPr>
      </p:sp>
      <p:pic>
        <p:nvPicPr>
          <p:cNvPr id="12" name="Image 1" descr="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8516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2608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Apache 2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2944368" y="28346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VirtualHost · mod_php · mod_rewrite</a:t>
            </a:r>
            <a:endParaRPr lang="en-US" sz="1300" dirty="0"/>
          </a:p>
        </p:txBody>
      </p:sp>
      <p:sp>
        <p:nvSpPr>
          <p:cNvPr id="15" name="Flecha"/>
          <p:cNvSpPr/>
          <p:nvPr/>
        </p:nvSpPr>
        <p:spPr>
          <a:xfrm>
            <a:off x="4791456" y="2578608"/>
            <a:ext cx="29260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arjeta"/>
          <p:cNvSpPr/>
          <p:nvPr/>
        </p:nvSpPr>
        <p:spPr>
          <a:xfrm>
            <a:off x="5120640" y="150876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Círculo de ícono"/>
          <p:cNvSpPr/>
          <p:nvPr/>
        </p:nvSpPr>
        <p:spPr>
          <a:xfrm>
            <a:off x="5760720" y="1691640"/>
            <a:ext cx="640080" cy="64008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8" name="Image 2" descr="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185166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1208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Laravel 12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5230368" y="28346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Rutas · middleware auth y admin · controladores</a:t>
            </a:r>
            <a:endParaRPr lang="en-US" sz="1300" dirty="0"/>
          </a:p>
        </p:txBody>
      </p:sp>
      <p:sp>
        <p:nvSpPr>
          <p:cNvPr id="21" name="Flecha"/>
          <p:cNvSpPr/>
          <p:nvPr/>
        </p:nvSpPr>
        <p:spPr>
          <a:xfrm>
            <a:off x="7077456" y="2578608"/>
            <a:ext cx="29260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Tarjeta"/>
          <p:cNvSpPr/>
          <p:nvPr/>
        </p:nvSpPr>
        <p:spPr>
          <a:xfrm>
            <a:off x="7406640" y="150876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Círculo de ícono"/>
          <p:cNvSpPr/>
          <p:nvPr/>
        </p:nvSpPr>
        <p:spPr>
          <a:xfrm>
            <a:off x="8046720" y="1691640"/>
            <a:ext cx="640080" cy="640080"/>
          </a:xfrm>
          <a:prstGeom prst="ellipse">
            <a:avLst/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</p:spPr>
      </p:sp>
      <p:pic>
        <p:nvPicPr>
          <p:cNvPr id="24" name="Image 3" descr="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740" y="185166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9808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Servicios PHP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7516368" y="28346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ComandoSeguro · ProcReader · Procesos</a:t>
            </a:r>
            <a:endParaRPr lang="en-US" sz="1300" dirty="0"/>
          </a:p>
        </p:txBody>
      </p:sp>
      <p:sp>
        <p:nvSpPr>
          <p:cNvPr id="27" name="Flecha"/>
          <p:cNvSpPr/>
          <p:nvPr/>
        </p:nvSpPr>
        <p:spPr>
          <a:xfrm>
            <a:off x="9363456" y="2578608"/>
            <a:ext cx="29260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Tarjeta"/>
          <p:cNvSpPr/>
          <p:nvPr/>
        </p:nvSpPr>
        <p:spPr>
          <a:xfrm>
            <a:off x="9692640" y="1508760"/>
            <a:ext cx="1920240" cy="21488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Círculo de ícono"/>
          <p:cNvSpPr/>
          <p:nvPr/>
        </p:nvSpPr>
        <p:spPr>
          <a:xfrm>
            <a:off x="10332720" y="1691640"/>
            <a:ext cx="640080" cy="640080"/>
          </a:xfrm>
          <a:prstGeom prst="ellipse">
            <a:avLst/>
          </a:prstGeom>
          <a:solidFill>
            <a:srgbClr val="14201B"/>
          </a:solidFill>
          <a:ln w="12700">
            <a:solidFill>
              <a:srgbClr val="14201B"/>
            </a:solidFill>
            <a:prstDash val="solid"/>
          </a:ln>
        </p:spPr>
      </p:sp>
      <p:pic>
        <p:nvPicPr>
          <p:cNvPr id="30" name="Image 4" descr="Linux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2740" y="185166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78408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Kernel Linux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9802368" y="28346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/proc · /etc/passwd · ps, df, lsblk…</a:t>
            </a:r>
            <a:endParaRPr lang="en-US" sz="1300" dirty="0"/>
          </a:p>
        </p:txBody>
      </p:sp>
      <p:sp>
        <p:nvSpPr>
          <p:cNvPr id="33" name="Tarjeta"/>
          <p:cNvSpPr/>
          <p:nvPr/>
        </p:nvSpPr>
        <p:spPr>
          <a:xfrm>
            <a:off x="548640" y="3931920"/>
            <a:ext cx="539496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Círculo de ícono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35" name="Image 5" descr="Databa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5196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508760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Datos persistentes en SQLite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1508760" y="4526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(con rol) · bitacora · procesos_prueba · simulaciones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150876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Sesiones, caché y cola también usan la base de datos.</a:t>
            </a:r>
            <a:endParaRPr lang="en-US" sz="1400" dirty="0"/>
          </a:p>
        </p:txBody>
      </p:sp>
      <p:sp>
        <p:nvSpPr>
          <p:cNvPr id="39" name="Tarjeta"/>
          <p:cNvSpPr/>
          <p:nvPr/>
        </p:nvSpPr>
        <p:spPr>
          <a:xfrm>
            <a:off x="6245352" y="3931920"/>
            <a:ext cx="539496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Círculo de ícono"/>
          <p:cNvSpPr/>
          <p:nvPr/>
        </p:nvSpPr>
        <p:spPr>
          <a:xfrm>
            <a:off x="6473952" y="4114800"/>
            <a:ext cx="548640" cy="548640"/>
          </a:xfrm>
          <a:prstGeom prst="ellipse">
            <a:avLst/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</p:spPr>
      </p:sp>
      <p:pic>
        <p:nvPicPr>
          <p:cNvPr id="41" name="Image 6" descr="ProjectDiagra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4251960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205472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Simuladores: no tocan el sistema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7205472" y="4526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M3 (Planificador.php) y M4 (Banquero.php) calculan en PHP puro y devuelven JSON.</a:t>
            </a:r>
            <a:endParaRPr lang="en-US" sz="1400" dirty="0"/>
          </a:p>
        </p:txBody>
      </p:sp>
      <p:sp>
        <p:nvSpPr>
          <p:cNvPr id="44" name="Text 34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Las vistas piden los datos con fetch, usando la misma sesión y el token CSRF de la etiqueta &lt;meta&gt;.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y herramientas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46304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írculo de ícono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14201B"/>
          </a:solidFill>
          <a:ln w="12700">
            <a:solidFill>
              <a:srgbClr val="14201B"/>
            </a:solidFill>
            <a:prstDash val="solid"/>
          </a:ln>
        </p:spPr>
      </p:sp>
      <p:pic>
        <p:nvPicPr>
          <p:cNvPr id="6" name="Image 0" descr="Lin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Debian 12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Sistema operativo de la VM, sin entorno gráfico</a:t>
            </a:r>
            <a:endParaRPr lang="en-US" sz="1300" dirty="0"/>
          </a:p>
        </p:txBody>
      </p:sp>
      <p:sp>
        <p:nvSpPr>
          <p:cNvPr id="9" name="Tarjeta"/>
          <p:cNvSpPr/>
          <p:nvPr/>
        </p:nvSpPr>
        <p:spPr>
          <a:xfrm>
            <a:off x="3376879" y="146304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írculo de ícono"/>
          <p:cNvSpPr/>
          <p:nvPr/>
        </p:nvSpPr>
        <p:spPr>
          <a:xfrm>
            <a:off x="3605479" y="1691640"/>
            <a:ext cx="594360" cy="594360"/>
          </a:xfrm>
          <a:prstGeom prst="ellipse">
            <a:avLst/>
          </a:prstGeom>
          <a:solidFill>
            <a:srgbClr val="D9922B"/>
          </a:solidFill>
          <a:ln w="12700">
            <a:solidFill>
              <a:srgbClr val="D9922B"/>
            </a:solidFill>
            <a:prstDash val="solid"/>
          </a:ln>
        </p:spPr>
      </p:sp>
      <p:pic>
        <p:nvPicPr>
          <p:cNvPr id="11" name="Image 1" descr="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069" y="184023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05479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Apache 2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605479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Servidor web con VirtualHost propio</a:t>
            </a:r>
            <a:endParaRPr lang="en-US" sz="1300" dirty="0"/>
          </a:p>
        </p:txBody>
      </p:sp>
      <p:sp>
        <p:nvSpPr>
          <p:cNvPr id="14" name="Tarjeta"/>
          <p:cNvSpPr/>
          <p:nvPr/>
        </p:nvSpPr>
        <p:spPr>
          <a:xfrm>
            <a:off x="6205118" y="146304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írculo de ícono"/>
          <p:cNvSpPr/>
          <p:nvPr/>
        </p:nvSpPr>
        <p:spPr>
          <a:xfrm>
            <a:off x="6433718" y="1691640"/>
            <a:ext cx="594360" cy="594360"/>
          </a:xfrm>
          <a:prstGeom prst="ellipse">
            <a:avLst/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</p:spPr>
      </p:sp>
      <p:pic>
        <p:nvPicPr>
          <p:cNvPr id="16" name="Image 2" descr="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308" y="184023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33718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PHP 8.2 + Composer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433718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pdo_sqlite, mbstring, xml, curl, zip, bcmath, intl</a:t>
            </a:r>
            <a:endParaRPr lang="en-US" sz="1300" dirty="0"/>
          </a:p>
        </p:txBody>
      </p:sp>
      <p:sp>
        <p:nvSpPr>
          <p:cNvPr id="19" name="Tarjeta"/>
          <p:cNvSpPr/>
          <p:nvPr/>
        </p:nvSpPr>
        <p:spPr>
          <a:xfrm>
            <a:off x="9033358" y="146304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Círculo de ícono"/>
          <p:cNvSpPr/>
          <p:nvPr/>
        </p:nvSpPr>
        <p:spPr>
          <a:xfrm>
            <a:off x="9261958" y="1691640"/>
            <a:ext cx="594360" cy="594360"/>
          </a:xfrm>
          <a:prstGeom prst="ellipse">
            <a:avLst/>
          </a:prstGeom>
          <a:solidFill>
            <a:srgbClr val="C0463C"/>
          </a:solidFill>
          <a:ln w="12700">
            <a:solidFill>
              <a:srgbClr val="C0463C"/>
            </a:solidFill>
            <a:prstDash val="solid"/>
          </a:ln>
        </p:spPr>
      </p:sp>
      <p:pic>
        <p:nvPicPr>
          <p:cNvPr id="21" name="Image 3" descr="Co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548" y="184023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261958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Laravel 12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9261958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MVC: rutas, middleware, Eloquent, migraciones</a:t>
            </a:r>
            <a:endParaRPr lang="en-US" sz="1300" dirty="0"/>
          </a:p>
        </p:txBody>
      </p:sp>
      <p:sp>
        <p:nvSpPr>
          <p:cNvPr id="24" name="Tarjeta"/>
          <p:cNvSpPr/>
          <p:nvPr/>
        </p:nvSpPr>
        <p:spPr>
          <a:xfrm>
            <a:off x="548640" y="374904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Círculo de ícono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26" name="Image 4" descr="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7724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SQLite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777240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Base de datos en un archivo, sin servidor aparte</a:t>
            </a:r>
            <a:endParaRPr lang="en-US" sz="1300" dirty="0"/>
          </a:p>
        </p:txBody>
      </p:sp>
      <p:sp>
        <p:nvSpPr>
          <p:cNvPr id="29" name="Tarjeta"/>
          <p:cNvSpPr/>
          <p:nvPr/>
        </p:nvSpPr>
        <p:spPr>
          <a:xfrm>
            <a:off x="3376879" y="374904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Círculo de ícono"/>
          <p:cNvSpPr/>
          <p:nvPr/>
        </p:nvSpPr>
        <p:spPr>
          <a:xfrm>
            <a:off x="3605479" y="3977640"/>
            <a:ext cx="594360" cy="594360"/>
          </a:xfrm>
          <a:prstGeom prst="ellipse">
            <a:avLst/>
          </a:prstGeom>
          <a:solidFill>
            <a:srgbClr val="2F7DA3"/>
          </a:solidFill>
          <a:ln w="12700">
            <a:solidFill>
              <a:srgbClr val="2F7DA3"/>
            </a:solidFill>
            <a:prstDash val="solid"/>
          </a:ln>
        </p:spPr>
      </p:sp>
      <p:pic>
        <p:nvPicPr>
          <p:cNvPr id="31" name="Image 5" descr="LayerGrou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069" y="4126230"/>
            <a:ext cx="297180" cy="29718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605479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Blade + Bootstrap 5</a:t>
            </a:r>
            <a:endParaRPr lang="en-US" sz="1700" dirty="0"/>
          </a:p>
        </p:txBody>
      </p:sp>
      <p:sp>
        <p:nvSpPr>
          <p:cNvPr id="33" name="Text 24"/>
          <p:cNvSpPr txBox="1"/>
          <p:nvPr/>
        </p:nvSpPr>
        <p:spPr>
          <a:xfrm>
            <a:off x="3605479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Vistas, rejilla responsive y bootstrap-icons</a:t>
            </a:r>
            <a:endParaRPr lang="en-US" sz="1300" dirty="0"/>
          </a:p>
        </p:txBody>
      </p:sp>
      <p:sp>
        <p:nvSpPr>
          <p:cNvPr id="34" name="Tarjeta"/>
          <p:cNvSpPr/>
          <p:nvPr/>
        </p:nvSpPr>
        <p:spPr>
          <a:xfrm>
            <a:off x="6205118" y="374904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Círculo de ícono"/>
          <p:cNvSpPr/>
          <p:nvPr/>
        </p:nvSpPr>
        <p:spPr>
          <a:xfrm>
            <a:off x="6433718" y="3977640"/>
            <a:ext cx="594360" cy="59436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36" name="Image 6" descr="ChartLi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308" y="4126230"/>
            <a:ext cx="297180" cy="29718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433718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Chart.js 4</a:t>
            </a:r>
            <a:endParaRPr lang="en-US" sz="1700" dirty="0"/>
          </a:p>
        </p:txBody>
      </p:sp>
      <p:sp>
        <p:nvSpPr>
          <p:cNvPr id="38" name="Text 28"/>
          <p:cNvSpPr txBox="1"/>
          <p:nvPr/>
        </p:nvSpPr>
        <p:spPr>
          <a:xfrm>
            <a:off x="6433718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Gráficas en vivo de CPU y memoria</a:t>
            </a:r>
            <a:endParaRPr lang="en-US" sz="1300" dirty="0"/>
          </a:p>
        </p:txBody>
      </p:sp>
      <p:sp>
        <p:nvSpPr>
          <p:cNvPr id="39" name="Tarjeta"/>
          <p:cNvSpPr/>
          <p:nvPr/>
        </p:nvSpPr>
        <p:spPr>
          <a:xfrm>
            <a:off x="9033358" y="3749040"/>
            <a:ext cx="260604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Círculo de ícono"/>
          <p:cNvSpPr/>
          <p:nvPr/>
        </p:nvSpPr>
        <p:spPr>
          <a:xfrm>
            <a:off x="9261958" y="3977640"/>
            <a:ext cx="594360" cy="594360"/>
          </a:xfrm>
          <a:prstGeom prst="ellipse">
            <a:avLst/>
          </a:prstGeom>
          <a:solidFill>
            <a:srgbClr val="14201B"/>
          </a:solidFill>
          <a:ln w="12700">
            <a:solidFill>
              <a:srgbClr val="14201B"/>
            </a:solidFill>
            <a:prstDash val="solid"/>
          </a:ln>
        </p:spPr>
      </p:sp>
      <p:pic>
        <p:nvPicPr>
          <p:cNvPr id="41" name="Image 7" descr="Github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0548" y="4126230"/>
            <a:ext cx="297180" cy="29718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261958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Git + GitHub</a:t>
            </a:r>
            <a:endParaRPr lang="en-US" sz="1700" dirty="0"/>
          </a:p>
        </p:txBody>
      </p:sp>
      <p:sp>
        <p:nvSpPr>
          <p:cNvPr id="43" name="Text 32"/>
          <p:cNvSpPr txBox="1"/>
          <p:nvPr/>
        </p:nvSpPr>
        <p:spPr>
          <a:xfrm>
            <a:off x="9261958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Ramas por módulo, Pull Requests e Issues</a:t>
            </a:r>
            <a:endParaRPr lang="en-US" sz="1300" dirty="0"/>
          </a:p>
        </p:txBody>
      </p:sp>
      <p:sp>
        <p:nvSpPr>
          <p:cNvPr id="44" name="Text 33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También: VirtualBox para la VM · SSH para administrarla · PHPUnit para las pruebas de M3 y M4.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de la VM Debian 12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029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Parámetro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ISO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debian-12 netinst amd64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2048 MB (mínimo 1024)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CPU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núcleos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Disco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 GB VDI dinámico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Adaptador puente, o NAT con 8080→80 y 2222→22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Software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Solo servidor SSH + utilidades estándar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Usuario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root sin contraseña → usuario en grupo sudo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arjeta"/>
          <p:cNvSpPr/>
          <p:nvPr/>
        </p:nvSpPr>
        <p:spPr>
          <a:xfrm>
            <a:off x="7406640" y="1463040"/>
            <a:ext cx="423367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Círculo de ícono"/>
          <p:cNvSpPr/>
          <p:nvPr/>
        </p:nvSpPr>
        <p:spPr>
          <a:xfrm>
            <a:off x="7589520" y="1645920"/>
            <a:ext cx="548640" cy="54864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7" name="Image 0" descr="Microc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7830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27532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núcleos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8275320" y="19933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M2 muestra el uso por núcleo, conviene tener más de uno</a:t>
            </a:r>
            <a:endParaRPr lang="en-US" sz="1300" dirty="0"/>
          </a:p>
        </p:txBody>
      </p:sp>
      <p:sp>
        <p:nvSpPr>
          <p:cNvPr id="10" name="Tarjeta"/>
          <p:cNvSpPr/>
          <p:nvPr/>
        </p:nvSpPr>
        <p:spPr>
          <a:xfrm>
            <a:off x="7406640" y="3017520"/>
            <a:ext cx="423367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Círculo de ícono"/>
          <p:cNvSpPr/>
          <p:nvPr/>
        </p:nvSpPr>
        <p:spPr>
          <a:xfrm>
            <a:off x="7589520" y="3200400"/>
            <a:ext cx="548640" cy="54864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2" name="Image 1" descr="Termi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3375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275320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 entorno gráfico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8275320" y="35478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 administra por SSH igual que el VPS de producción</a:t>
            </a:r>
            <a:endParaRPr lang="en-US" sz="1300" dirty="0"/>
          </a:p>
        </p:txBody>
      </p:sp>
      <p:sp>
        <p:nvSpPr>
          <p:cNvPr id="15" name="Tarjeta"/>
          <p:cNvSpPr/>
          <p:nvPr/>
        </p:nvSpPr>
        <p:spPr>
          <a:xfrm>
            <a:off x="7406640" y="4572000"/>
            <a:ext cx="423367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Círculo de ícono"/>
          <p:cNvSpPr/>
          <p:nvPr/>
        </p:nvSpPr>
        <p:spPr>
          <a:xfrm>
            <a:off x="7589520" y="4754880"/>
            <a:ext cx="548640" cy="54864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7" name="Image 2" descr="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489204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75320" y="4736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SSH habilitado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8275320" y="51023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Requisito de la defensa: abrir /proc o ejecutar comandos en vivo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automatizada: setup-vm.sh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41732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Paquetes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apt install apache2, libapache2-mod-php, PHP 8.2 y extensiones, sqlite3, composer, git</a:t>
            </a:r>
            <a:endParaRPr lang="en-US" sz="1400" dirty="0"/>
          </a:p>
        </p:txBody>
      </p:sp>
      <p:sp>
        <p:nvSpPr>
          <p:cNvPr id="9" name="Tarjeta"/>
          <p:cNvSpPr/>
          <p:nvPr/>
        </p:nvSpPr>
        <p:spPr>
          <a:xfrm>
            <a:off x="4334256" y="141732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5424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3542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02936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Código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62856" y="2240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git clone del repositorio en /var/www/sysmonitor-web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8119872" y="141732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210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988552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Dependencias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2" y="2240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composer install (Laravel 12 y librerías)</a:t>
            </a:r>
            <a:endParaRPr lang="en-US" sz="1400" dirty="0"/>
          </a:p>
        </p:txBody>
      </p:sp>
      <p:sp>
        <p:nvSpPr>
          <p:cNvPr id="19" name="Tarjeta"/>
          <p:cNvSpPr/>
          <p:nvPr/>
        </p:nvSpPr>
        <p:spPr>
          <a:xfrm>
            <a:off x="548640" y="342900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9808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Entorno y BD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251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cp .env.example .env · key:generate · crear database.sqlite · php artisan migrate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4334256" y="342900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35424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35424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202936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Permisos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4562856" y="4251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Dueño usuario:www-data; 775 solo en storage, bootstrap/cache y database</a:t>
            </a:r>
            <a:endParaRPr lang="en-US" sz="1400" dirty="0"/>
          </a:p>
        </p:txBody>
      </p:sp>
      <p:sp>
        <p:nvSpPr>
          <p:cNvPr id="29" name="Tarjeta"/>
          <p:cNvSpPr/>
          <p:nvPr/>
        </p:nvSpPr>
        <p:spPr>
          <a:xfrm>
            <a:off x="8119872" y="342900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321040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210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988552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VirtualHost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348472" y="4251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a2enmod rewrite · a2dissite 000-default · a2ensite sysmonitor · configtest · reload</a:t>
            </a:r>
            <a:endParaRPr lang="en-US" sz="1400" dirty="0"/>
          </a:p>
        </p:txBody>
      </p:sp>
      <p:sp>
        <p:nvSpPr>
          <p:cNvPr id="34" name="Comando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0B1210"/>
          </a:solidFill>
          <a:ln w="12700">
            <a:solidFill>
              <a:srgbClr val="0B121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4864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 scripts/setup-vm.sh &lt;url-del-repositorio&gt;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Apache: el VirtualHost de sysmonitor</a:t>
            </a:r>
            <a:endParaRPr lang="en-US" sz="3400" dirty="0"/>
          </a:p>
        </p:txBody>
      </p:sp>
      <p:sp>
        <p:nvSpPr>
          <p:cNvPr id="4" name="Código Apache"/>
          <p:cNvSpPr/>
          <p:nvPr/>
        </p:nvSpPr>
        <p:spPr>
          <a:xfrm>
            <a:off x="548640" y="1417320"/>
            <a:ext cx="6126480" cy="4709160"/>
          </a:xfrm>
          <a:prstGeom prst="roundRect">
            <a:avLst>
              <a:gd name="adj" fmla="val 1942"/>
            </a:avLst>
          </a:prstGeom>
          <a:solidFill>
            <a:srgbClr val="0B1210"/>
          </a:solidFill>
          <a:ln w="12700">
            <a:solidFill>
              <a:srgbClr val="0B121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5669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&lt;VirtualHost *:80&gt;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ServerName sysmonitor.local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DocumentRoot /var/www/sysmonitor-web/public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&lt;Directory .../sysmonitor-web/public&gt;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AllowOverride 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 all granted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Options -Indexes +FollowSymLinks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&lt;/Directory&gt;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&lt;Directory .../sysmonitor-web&gt;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 all denied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&lt;/Directory&gt;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ErrorLog ${APACHE_LOG_DIR}/sysmonitor_error.log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CustomLog ${APACHE_LOG_DIR}/sysmonitor_access.log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&lt;/VirtualHost&gt;</a:t>
            </a:r>
            <a:endParaRPr lang="en-US" sz="1250" dirty="0"/>
          </a:p>
        </p:txBody>
      </p:sp>
      <p:sp>
        <p:nvSpPr>
          <p:cNvPr id="6" name="Tarjeta"/>
          <p:cNvSpPr/>
          <p:nvPr/>
        </p:nvSpPr>
        <p:spPr>
          <a:xfrm>
            <a:off x="6903720" y="1417320"/>
            <a:ext cx="4736592" cy="1490472"/>
          </a:xfrm>
          <a:prstGeom prst="roundRect">
            <a:avLst>
              <a:gd name="adj" fmla="val 61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13232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DocumentRoot = /public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19659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la carpeta public/ es visible; el código de la aplicación queda fuera del alcance del navegador.</a:t>
            </a:r>
            <a:endParaRPr lang="en-US" sz="1400" dirty="0"/>
          </a:p>
        </p:txBody>
      </p:sp>
      <p:sp>
        <p:nvSpPr>
          <p:cNvPr id="9" name="Tarjeta"/>
          <p:cNvSpPr/>
          <p:nvPr/>
        </p:nvSpPr>
        <p:spPr>
          <a:xfrm>
            <a:off x="6903720" y="3044952"/>
            <a:ext cx="4736592" cy="1490472"/>
          </a:xfrm>
          <a:prstGeom prst="roundRect">
            <a:avLst>
              <a:gd name="adj" fmla="val 61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132320" y="3182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Require all denied en la raíz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359359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Protege .env, database/ y storage/. Apache aplica primero la ruta más corta, y /public sigue permitido.</a:t>
            </a:r>
            <a:endParaRPr lang="en-US" sz="1400" dirty="0"/>
          </a:p>
        </p:txBody>
      </p:sp>
      <p:sp>
        <p:nvSpPr>
          <p:cNvPr id="12" name="Tarjeta"/>
          <p:cNvSpPr/>
          <p:nvPr/>
        </p:nvSpPr>
        <p:spPr>
          <a:xfrm>
            <a:off x="6903720" y="4672584"/>
            <a:ext cx="4736592" cy="1490472"/>
          </a:xfrm>
          <a:prstGeom prst="roundRect">
            <a:avLst>
              <a:gd name="adj" fmla="val 61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132320" y="48097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AllowOverride All + mod_rewrite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5221224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.htaccess de public/ envía todas las rutas a index.php de Laravel; sin esto, las rutas dan 404.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y configuración de Laravel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417320"/>
            <a:ext cx="5440680" cy="4297680"/>
          </a:xfrm>
          <a:prstGeom prst="roundRect">
            <a:avLst>
              <a:gd name="adj" fmla="val 212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Permisos en la VM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Directorios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92040" y="2203704"/>
            <a:ext cx="77724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22037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755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79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Archivos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92040" y="2734056"/>
            <a:ext cx="77724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273405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644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2095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storage/ · bootstrap/cache/ · database/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92040" y="3264408"/>
            <a:ext cx="77724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32644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775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739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database.sqlite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92040" y="3794760"/>
            <a:ext cx="77724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37947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270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Archivo .env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92040" y="4325112"/>
            <a:ext cx="77724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92040" y="432511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640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800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artisan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92040" y="4855464"/>
            <a:ext cx="77724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92040" y="485546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Dueño: usuario de desarrollo · grupo: www-data</a:t>
            </a:r>
            <a:endParaRPr lang="en-US" sz="1300" dirty="0"/>
          </a:p>
        </p:txBody>
      </p:sp>
      <p:sp>
        <p:nvSpPr>
          <p:cNvPr id="25" name="Tarjeta"/>
          <p:cNvSpPr/>
          <p:nvPr/>
        </p:nvSpPr>
        <p:spPr>
          <a:xfrm>
            <a:off x="6199632" y="1417320"/>
            <a:ext cx="5440680" cy="4297680"/>
          </a:xfrm>
          <a:prstGeom prst="roundRect">
            <a:avLst>
              <a:gd name="adj" fmla="val 212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473952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Configuración en .env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6473952" y="21488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APP_TIMEZONE=America/Guatemala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APP_LOCALE=es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DB_CONNECTION=sqlite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SESSION_DRIVER=database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QUEUE_CONNECTION=database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CACHE_STORE=database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SEED_ADMIN_PASSWORD=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SEED_OBSERVADOR_PASSWORD=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73952" y="48920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Las contraseñas de demostración solo viven en .env y se cargan con php artisan db:seed.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Dominio y HTTPS en el VPS: certbot --apache crea el VirtualHost :443.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Seguridad: ComandoSeguro, la única puerta al shell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371600"/>
            <a:ext cx="544068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írculo de ícono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C0463C"/>
          </a:solidFill>
          <a:ln w="12700">
            <a:solidFill>
              <a:srgbClr val="C0463C"/>
            </a:solidFill>
            <a:prstDash val="solid"/>
          </a:ln>
        </p:spPr>
      </p:sp>
      <p:pic>
        <p:nvPicPr>
          <p:cNvPr id="6" name="Image 0" descr="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6276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Sin concatenar datos del usuario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600200" y="22402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Cada argumento pasa por escapeshellarg(). pidValido() rechaza 1, 0, «12; ls», 1e3 y -5.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6199632" y="1371600"/>
            <a:ext cx="544068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írculo de ícono"/>
          <p:cNvSpPr/>
          <p:nvPr/>
        </p:nvSpPr>
        <p:spPr>
          <a:xfrm>
            <a:off x="6428232" y="1600200"/>
            <a:ext cx="640080" cy="640080"/>
          </a:xfrm>
          <a:prstGeom prst="ellipse">
            <a:avLst/>
          </a:prstGeom>
          <a:solidFill>
            <a:srgbClr val="2F7DA3"/>
          </a:solidFill>
          <a:ln w="12700">
            <a:solidFill>
              <a:srgbClr val="2F7DA3"/>
            </a:solidFill>
            <a:prstDash val="solid"/>
          </a:ln>
        </p:spPr>
      </p:sp>
      <p:pic>
        <p:nvPicPr>
          <p:cNvPr id="11" name="Image 1" descr="ListU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17602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51192" y="16276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Lista blanca de 9 comandos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7251192" y="22402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ps, kill, renice, sleep, php, lsblk, df, findmnt y who, con ruta absoluta. En segundo plano solo sleep y php.</a:t>
            </a:r>
            <a:endParaRPr lang="en-US" sz="1500" dirty="0"/>
          </a:p>
        </p:txBody>
      </p:sp>
      <p:sp>
        <p:nvSpPr>
          <p:cNvPr id="14" name="Tarjeta"/>
          <p:cNvSpPr/>
          <p:nvPr/>
        </p:nvSpPr>
        <p:spPr>
          <a:xfrm>
            <a:off x="548640" y="3474720"/>
            <a:ext cx="544068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írculo de ícono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6" name="Image 2" descr="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8633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37307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Solo procesos de prueba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600200" y="43434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El PID debe estar en procesos_prueba, vivo, con el UID de www-data y el comando exacto. www-data no tiene sudo.</a:t>
            </a:r>
            <a:endParaRPr lang="en-US" sz="1500" dirty="0"/>
          </a:p>
        </p:txBody>
      </p:sp>
      <p:sp>
        <p:nvSpPr>
          <p:cNvPr id="19" name="Tarjeta"/>
          <p:cNvSpPr/>
          <p:nvPr/>
        </p:nvSpPr>
        <p:spPr>
          <a:xfrm>
            <a:off x="6199632" y="3474720"/>
            <a:ext cx="544068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Círculo de ícono"/>
          <p:cNvSpPr/>
          <p:nvPr/>
        </p:nvSpPr>
        <p:spPr>
          <a:xfrm>
            <a:off x="6428232" y="3703320"/>
            <a:ext cx="640080" cy="640080"/>
          </a:xfrm>
          <a:prstGeom prst="ellipse">
            <a:avLst/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</p:spPr>
      </p:sp>
      <p:pic>
        <p:nvPicPr>
          <p:cNvPr id="21" name="Image 3" descr="User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386334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51192" y="37307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Rol Administrador y bitácora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7251192" y="43434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Las acciones que cambian el sistema usan middleware admin; cada intento queda como éxito, error o rechazado.</a:t>
            </a:r>
            <a:endParaRPr lang="en-US" sz="1500" dirty="0"/>
          </a:p>
        </p:txBody>
      </p:sp>
      <p:sp>
        <p:nvSpPr>
          <p:cNvPr id="24" name="Tarjeta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22960" y="56235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Límites: máx. 5 procesos de prueba · 30 acciones por minuto · la carga de CPU termina sola a los 120 s · el explorador usa realpath() y no sale de /var/www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 — Autenticación, roles y bitácora</a:t>
            </a:r>
            <a:endParaRPr lang="en-US" sz="3400" dirty="0"/>
          </a:p>
        </p:txBody>
      </p:sp>
      <p:sp>
        <p:nvSpPr>
          <p:cNvPr id="4" name="Marco de captura"/>
          <p:cNvSpPr/>
          <p:nvPr/>
        </p:nvSpPr>
        <p:spPr>
          <a:xfrm>
            <a:off x="502920" y="1371600"/>
            <a:ext cx="5532120" cy="2781919"/>
          </a:xfrm>
          <a:prstGeom prst="roundRect">
            <a:avLst>
              <a:gd name="adj" fmla="val 1972"/>
            </a:avLst>
          </a:prstGeom>
          <a:solidFill>
            <a:schemeClr val="bg1"/>
          </a:solidFill>
          <a:ln w="9525">
            <a:solidFill>
              <a:srgbClr val="D5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Captura de Logi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440680" cy="2690479"/>
          </a:xfrm>
          <a:prstGeom prst="rect">
            <a:avLst/>
          </a:prstGeom>
        </p:spPr>
      </p:pic>
      <p:sp>
        <p:nvSpPr>
          <p:cNvPr id="6" name="Marco de captura"/>
          <p:cNvSpPr/>
          <p:nvPr/>
        </p:nvSpPr>
        <p:spPr>
          <a:xfrm>
            <a:off x="6153912" y="1371600"/>
            <a:ext cx="5532120" cy="2781919"/>
          </a:xfrm>
          <a:prstGeom prst="roundRect">
            <a:avLst>
              <a:gd name="adj" fmla="val 1972"/>
            </a:avLst>
          </a:prstGeom>
          <a:solidFill>
            <a:schemeClr val="bg1"/>
          </a:solidFill>
          <a:ln w="9525">
            <a:solidFill>
              <a:srgbClr val="D5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Captura de Bitácor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1417320"/>
            <a:ext cx="5440680" cy="2690479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548640" y="4389120"/>
            <a:ext cx="544068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777240" y="44988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Inicio de sesión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4892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Auth::attempt y regeneración de la sesión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throttle: 5 intentos por minuto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existe ruta de registro: cuentas del seeder</a:t>
            </a:r>
            <a:endParaRPr lang="en-US" sz="1400" dirty="0"/>
          </a:p>
        </p:txBody>
      </p:sp>
      <p:sp>
        <p:nvSpPr>
          <p:cNvPr id="11" name="Tarjeta"/>
          <p:cNvSpPr/>
          <p:nvPr/>
        </p:nvSpPr>
        <p:spPr>
          <a:xfrm>
            <a:off x="6199632" y="4389120"/>
            <a:ext cx="544068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6428232" y="44988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Bitácora (solo Administrador)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428232" y="4892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Fecha, usuario, acción, PID, detalle, resultado e IP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LOGIN, LOGOUT, SIGTERM, RENICE, LANZAR_PRUEBA…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Resultados: éxito, error o rechazado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 — Dashboard y roles</a:t>
            </a:r>
            <a:endParaRPr lang="en-US" sz="3400" dirty="0"/>
          </a:p>
        </p:txBody>
      </p:sp>
      <p:sp>
        <p:nvSpPr>
          <p:cNvPr id="4" name="Marco de captura"/>
          <p:cNvSpPr/>
          <p:nvPr/>
        </p:nvSpPr>
        <p:spPr>
          <a:xfrm>
            <a:off x="502920" y="1371600"/>
            <a:ext cx="6858000" cy="3419317"/>
          </a:xfrm>
          <a:prstGeom prst="roundRect">
            <a:avLst>
              <a:gd name="adj" fmla="val 1605"/>
            </a:avLst>
          </a:prstGeom>
          <a:solidFill>
            <a:schemeClr val="bg1"/>
          </a:solidFill>
          <a:ln w="9525">
            <a:solidFill>
              <a:srgbClr val="D5DDD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Captura del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3327877"/>
          </a:xfrm>
          <a:prstGeom prst="rect">
            <a:avLst/>
          </a:prstGeom>
        </p:spPr>
      </p:pic>
      <p:sp>
        <p:nvSpPr>
          <p:cNvPr id="6" name="Tarjeta"/>
          <p:cNvSpPr/>
          <p:nvPr/>
        </p:nvSpPr>
        <p:spPr>
          <a:xfrm>
            <a:off x="548640" y="4937760"/>
            <a:ext cx="676656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77240" y="502920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Administrador: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lanza procesos de prueba, envía señales, renice, guarda simulaciones y ve la bitácora.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Observador: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solo consulta; no ve los botones de acción.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7589520" y="1371600"/>
            <a:ext cx="4050792" cy="4846320"/>
          </a:xfrm>
          <a:prstGeom prst="roundRect">
            <a:avLst>
              <a:gd name="adj" fmla="val 22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8181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Qué muestra y de dónde sale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Carga 1 / 5 / 15 min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2340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/proc/loadavg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Memoria en uso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31638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/proc/meminfo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Procesos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39867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directorios numéricos de /proc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Tiempo encendido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818120" y="4809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/proc/uptime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818120" y="5303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Últimas acciones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818120" y="56327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 bitacora (SQLite)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Procesos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37160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13232" y="1554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 ejecución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2796235" y="137160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60827" y="1554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52625A"/>
          </a:solidFill>
          <a:ln w="12700">
            <a:solidFill>
              <a:srgbClr val="5262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60827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619195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Durmiendo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5043830" y="137160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08422" y="1554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9922B"/>
          </a:solidFill>
          <a:ln w="12700">
            <a:solidFill>
              <a:srgbClr val="D992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0842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866790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Espera de E/S</a:t>
            </a:r>
            <a:endParaRPr lang="en-US" sz="1500" dirty="0"/>
          </a:p>
        </p:txBody>
      </p:sp>
      <p:sp>
        <p:nvSpPr>
          <p:cNvPr id="16" name="Tarjeta"/>
          <p:cNvSpPr/>
          <p:nvPr/>
        </p:nvSpPr>
        <p:spPr>
          <a:xfrm>
            <a:off x="7291426" y="137160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56018" y="1554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0463C"/>
          </a:solidFill>
          <a:ln w="12700">
            <a:solidFill>
              <a:srgbClr val="C046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5601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Z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114386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Zombi</a:t>
            </a:r>
            <a:endParaRPr lang="en-US" sz="1500" dirty="0"/>
          </a:p>
        </p:txBody>
      </p:sp>
      <p:sp>
        <p:nvSpPr>
          <p:cNvPr id="20" name="Tarjeta"/>
          <p:cNvSpPr/>
          <p:nvPr/>
        </p:nvSpPr>
        <p:spPr>
          <a:xfrm>
            <a:off x="9539021" y="137160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703613" y="15544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03613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0361981" y="13716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Detenido</a:t>
            </a:r>
            <a:endParaRPr lang="en-US" sz="1500" dirty="0"/>
          </a:p>
        </p:txBody>
      </p:sp>
      <p:sp>
        <p:nvSpPr>
          <p:cNvPr id="24" name="Tarjeta"/>
          <p:cNvSpPr/>
          <p:nvPr/>
        </p:nvSpPr>
        <p:spPr>
          <a:xfrm>
            <a:off x="548640" y="2560320"/>
            <a:ext cx="5440680" cy="36576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7724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lee del kernel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31546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/proc/[pid]/stat: estado, PPID, nice, utime + stime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/proc/[pid]/status: Uid y VmRSS (memoria residente)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/proc/[pid]/cmdline: comando completo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% CPU = Δ(utime + stime) entre dos lecturas de ~300 ms; 100 % = un núcleo, como top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Vistas de tabla con filtros y de árbol por PPID</a:t>
            </a:r>
            <a:endParaRPr lang="en-US" sz="1600" dirty="0"/>
          </a:p>
        </p:txBody>
      </p:sp>
      <p:sp>
        <p:nvSpPr>
          <p:cNvPr id="27" name="Tarjeta"/>
          <p:cNvSpPr/>
          <p:nvPr/>
        </p:nvSpPr>
        <p:spPr>
          <a:xfrm>
            <a:off x="6199632" y="2560320"/>
            <a:ext cx="5440680" cy="36576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428232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puede hacer el Administrador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28232" y="31546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Lanzar procesos de prueba: sleep 600 o carga de CPU (120 s)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Enviar kill -TERM, -KILL, -STOP o -CONT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Cambiar prioridad con renice: sin root solo se puede subir el nice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Todo solo sobre procesos de prueba y con registro en la bitácora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Demostración: ciclo de vida de un proceso</a:t>
            </a:r>
            <a:endParaRPr lang="en-US" sz="3400" dirty="0"/>
          </a:p>
        </p:txBody>
      </p:sp>
      <p:sp>
        <p:nvSpPr>
          <p:cNvPr id="4" name="Estado"/>
          <p:cNvSpPr/>
          <p:nvPr/>
        </p:nvSpPr>
        <p:spPr>
          <a:xfrm>
            <a:off x="548640" y="187452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8745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Lanzado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estado S</a:t>
            </a:r>
            <a:endParaRPr lang="en-US" sz="1600" dirty="0"/>
          </a:p>
        </p:txBody>
      </p:sp>
      <p:sp>
        <p:nvSpPr>
          <p:cNvPr id="6" name="Flecha"/>
          <p:cNvSpPr/>
          <p:nvPr/>
        </p:nvSpPr>
        <p:spPr>
          <a:xfrm>
            <a:off x="2148840" y="2514600"/>
            <a:ext cx="738378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2057400" y="2057400"/>
            <a:ext cx="92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SIGSTOP</a:t>
            </a:r>
            <a:endParaRPr lang="en-US" sz="1200" dirty="0"/>
          </a:p>
        </p:txBody>
      </p:sp>
      <p:sp>
        <p:nvSpPr>
          <p:cNvPr id="8" name="Estado"/>
          <p:cNvSpPr/>
          <p:nvPr/>
        </p:nvSpPr>
        <p:spPr>
          <a:xfrm>
            <a:off x="2932938" y="187452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024378" y="18745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Detenido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estado T</a:t>
            </a:r>
            <a:endParaRPr lang="en-US" sz="1600" dirty="0"/>
          </a:p>
        </p:txBody>
      </p:sp>
      <p:sp>
        <p:nvSpPr>
          <p:cNvPr id="10" name="Flecha"/>
          <p:cNvSpPr/>
          <p:nvPr/>
        </p:nvSpPr>
        <p:spPr>
          <a:xfrm>
            <a:off x="4533138" y="2514600"/>
            <a:ext cx="738378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441698" y="2057400"/>
            <a:ext cx="92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SIGCONT</a:t>
            </a:r>
            <a:endParaRPr lang="en-US" sz="1200" dirty="0"/>
          </a:p>
        </p:txBody>
      </p:sp>
      <p:sp>
        <p:nvSpPr>
          <p:cNvPr id="12" name="Estado"/>
          <p:cNvSpPr/>
          <p:nvPr/>
        </p:nvSpPr>
        <p:spPr>
          <a:xfrm>
            <a:off x="5317236" y="187452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408676" y="18745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Reanudado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estado S</a:t>
            </a:r>
            <a:endParaRPr lang="en-US" sz="1600" dirty="0"/>
          </a:p>
        </p:txBody>
      </p:sp>
      <p:sp>
        <p:nvSpPr>
          <p:cNvPr id="14" name="Flecha"/>
          <p:cNvSpPr/>
          <p:nvPr/>
        </p:nvSpPr>
        <p:spPr>
          <a:xfrm>
            <a:off x="6917436" y="2514600"/>
            <a:ext cx="738378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6825996" y="2057400"/>
            <a:ext cx="92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renice</a:t>
            </a:r>
            <a:endParaRPr lang="en-US" sz="1200" dirty="0"/>
          </a:p>
        </p:txBody>
      </p:sp>
      <p:sp>
        <p:nvSpPr>
          <p:cNvPr id="16" name="Estado"/>
          <p:cNvSpPr/>
          <p:nvPr/>
        </p:nvSpPr>
        <p:spPr>
          <a:xfrm>
            <a:off x="7701534" y="187452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D9922B"/>
          </a:solidFill>
          <a:ln w="12700">
            <a:solidFill>
              <a:srgbClr val="D992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92974" y="18745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Prioridad baja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nice 10</a:t>
            </a:r>
            <a:endParaRPr lang="en-US" sz="1600" dirty="0"/>
          </a:p>
        </p:txBody>
      </p:sp>
      <p:sp>
        <p:nvSpPr>
          <p:cNvPr id="18" name="Flecha"/>
          <p:cNvSpPr/>
          <p:nvPr/>
        </p:nvSpPr>
        <p:spPr>
          <a:xfrm>
            <a:off x="9301734" y="2514600"/>
            <a:ext cx="738378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9210294" y="2057400"/>
            <a:ext cx="921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SIGTERM</a:t>
            </a:r>
            <a:endParaRPr lang="en-US" sz="1200" dirty="0"/>
          </a:p>
        </p:txBody>
      </p:sp>
      <p:sp>
        <p:nvSpPr>
          <p:cNvPr id="20" name="Estado"/>
          <p:cNvSpPr/>
          <p:nvPr/>
        </p:nvSpPr>
        <p:spPr>
          <a:xfrm>
            <a:off x="10085832" y="1874520"/>
            <a:ext cx="1554480" cy="1280160"/>
          </a:xfrm>
          <a:prstGeom prst="roundRect">
            <a:avLst>
              <a:gd name="adj" fmla="val 10000"/>
            </a:avLst>
          </a:prstGeom>
          <a:solidFill>
            <a:srgbClr val="C0463C"/>
          </a:solidFill>
          <a:ln w="12700">
            <a:solidFill>
              <a:srgbClr val="C0463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0177272" y="18745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Terminado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sale de /proc</a:t>
            </a:r>
            <a:endParaRPr lang="en-US" sz="1600" dirty="0"/>
          </a:p>
        </p:txBody>
      </p:sp>
      <p:sp>
        <p:nvSpPr>
          <p:cNvPr id="22" name="Tarjeta"/>
          <p:cNvSpPr/>
          <p:nvPr/>
        </p:nvSpPr>
        <p:spPr>
          <a:xfrm>
            <a:off x="548640" y="3611880"/>
            <a:ext cx="5440680" cy="26060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77240" y="3730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Detalles de implementación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1605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nombre (comm) va entre paréntesis y puede tener espacios: se corta en el último «)»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zombi (Z) ya terminó: se considera inexistente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 espera hasta 0.5 s a que TERM o KILL hagan efecto</a:t>
            </a:r>
            <a:endParaRPr lang="en-US" sz="1500" dirty="0"/>
          </a:p>
        </p:txBody>
      </p:sp>
      <p:sp>
        <p:nvSpPr>
          <p:cNvPr id="25" name="Tarjeta"/>
          <p:cNvSpPr/>
          <p:nvPr/>
        </p:nvSpPr>
        <p:spPr>
          <a:xfrm>
            <a:off x="6199632" y="3611880"/>
            <a:ext cx="5440680" cy="26060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428232" y="3730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Por qué es seguro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428232" y="41605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Antes de cada acción se comprueba UID y comando: evita actuar sobre un PID reutilizado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Bajar el nice se rechaza y se registra: www-data no es root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Máximo 5 procesos de prueba vivos a la vez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 — CPU y Memoria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Archivo de /proc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Qué se obtiene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/proc/cpuinfo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Modelo y número de núcleos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/proc/stat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Uso total y por núcleo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/proc/loadavg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Carga de 1, 5 y 15 min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/proc/meminfo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RAM, caché y swap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/proc/uptime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Tiempo encendido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074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Gráficas con Chart.js, actualizadas cada 2 a 5 s (se pueden pausar). Incluye Top 5 por CPU y por memoria.</a:t>
            </a:r>
            <a:endParaRPr lang="en-US" sz="1400" dirty="0"/>
          </a:p>
        </p:txBody>
      </p:sp>
      <p:sp>
        <p:nvSpPr>
          <p:cNvPr id="6" name="Tarjeta"/>
          <p:cNvSpPr/>
          <p:nvPr/>
        </p:nvSpPr>
        <p:spPr>
          <a:xfrm>
            <a:off x="6245352" y="1463040"/>
            <a:ext cx="539496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Uso de CPU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492240" y="2057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× (1 − Δocioso / Δtotal)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3063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Dos lecturas de /proc/stat; ocioso = idle + iowait.</a:t>
            </a:r>
            <a:endParaRPr lang="en-US" sz="1400" dirty="0"/>
          </a:p>
        </p:txBody>
      </p:sp>
      <p:sp>
        <p:nvSpPr>
          <p:cNvPr id="10" name="Tarjeta"/>
          <p:cNvSpPr/>
          <p:nvPr/>
        </p:nvSpPr>
        <p:spPr>
          <a:xfrm>
            <a:off x="6245352" y="3886200"/>
            <a:ext cx="539496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49224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RAM usada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4805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MemTotal − MemFree − Buffers − Cached − SReclaimable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54864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Mismo cálculo que el comando free.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— Planificación de CPU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486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Caso del grupo: P1–P5 con (llegada, ráfaga, prioridad) = (0,5,3) (1,3,1) (2,8,4) (3,6,2) (4,2,5); quantum = 2.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63040"/>
          <a:ext cx="53309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45920"/>
                <a:gridCol w="23591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Algoritmo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Criterio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FCFS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expropiativo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Orden de llegada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SJF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expropiativo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Menor ráfaga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SRTF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Expropiativo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Menor tiempo restante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Round Robin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Expropiativo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Quantum fijo, cola FIFO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Prioridades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expropiativo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Menor número = mayor prioridad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arjeta"/>
          <p:cNvSpPr/>
          <p:nvPr/>
        </p:nvSpPr>
        <p:spPr>
          <a:xfrm>
            <a:off x="6309360" y="5074920"/>
            <a:ext cx="5330952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 txBox="1"/>
          <p:nvPr/>
        </p:nvSpPr>
        <p:spPr>
          <a:xfrm>
            <a:off x="6492240" y="50749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Métricas: retorno = fin − llegada; espera = retorno − ráfaga. El menor promedio en este caso es SRTF (5.2).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— Diagrama de Gantt: SRTF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Caso del grupo · espera promedio 5.2 · retorno promedio calculado por proceso</a:t>
            </a:r>
            <a:endParaRPr lang="en-US" sz="1400" dirty="0"/>
          </a:p>
        </p:txBody>
      </p:sp>
      <p:sp>
        <p:nvSpPr>
          <p:cNvPr id="5" name="Tramo Gantt"/>
          <p:cNvSpPr/>
          <p:nvPr/>
        </p:nvSpPr>
        <p:spPr>
          <a:xfrm>
            <a:off x="822960" y="1737360"/>
            <a:ext cx="438150" cy="777240"/>
          </a:xfrm>
          <a:prstGeom prst="rect">
            <a:avLst/>
          </a:prstGeom>
          <a:solidFill>
            <a:srgbClr val="1F7A5A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4381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P1</a:t>
            </a:r>
            <a:endParaRPr lang="en-US" sz="1600" dirty="0"/>
          </a:p>
        </p:txBody>
      </p:sp>
      <p:sp>
        <p:nvSpPr>
          <p:cNvPr id="7" name="Tramo Gantt"/>
          <p:cNvSpPr/>
          <p:nvPr/>
        </p:nvSpPr>
        <p:spPr>
          <a:xfrm>
            <a:off x="1261110" y="1737360"/>
            <a:ext cx="1314450" cy="777240"/>
          </a:xfrm>
          <a:prstGeom prst="rect">
            <a:avLst/>
          </a:prstGeom>
          <a:solidFill>
            <a:srgbClr val="2F7DA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61110" y="1737360"/>
            <a:ext cx="13144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P2</a:t>
            </a:r>
            <a:endParaRPr lang="en-US" sz="1600" dirty="0"/>
          </a:p>
        </p:txBody>
      </p:sp>
      <p:sp>
        <p:nvSpPr>
          <p:cNvPr id="9" name="Tramo Gantt"/>
          <p:cNvSpPr/>
          <p:nvPr/>
        </p:nvSpPr>
        <p:spPr>
          <a:xfrm>
            <a:off x="2575560" y="1737360"/>
            <a:ext cx="876300" cy="777240"/>
          </a:xfrm>
          <a:prstGeom prst="rect">
            <a:avLst/>
          </a:prstGeom>
          <a:solidFill>
            <a:srgbClr val="D9922B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75560" y="1737360"/>
            <a:ext cx="876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P5</a:t>
            </a:r>
            <a:endParaRPr lang="en-US" sz="1600" dirty="0"/>
          </a:p>
        </p:txBody>
      </p:sp>
      <p:sp>
        <p:nvSpPr>
          <p:cNvPr id="11" name="Tramo Gantt"/>
          <p:cNvSpPr/>
          <p:nvPr/>
        </p:nvSpPr>
        <p:spPr>
          <a:xfrm>
            <a:off x="3451860" y="1737360"/>
            <a:ext cx="1752600" cy="777240"/>
          </a:xfrm>
          <a:prstGeom prst="rect">
            <a:avLst/>
          </a:prstGeom>
          <a:solidFill>
            <a:srgbClr val="1F7A5A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51860" y="1737360"/>
            <a:ext cx="1752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P1</a:t>
            </a:r>
            <a:endParaRPr lang="en-US" sz="1600" dirty="0"/>
          </a:p>
        </p:txBody>
      </p:sp>
      <p:sp>
        <p:nvSpPr>
          <p:cNvPr id="13" name="Tramo Gantt"/>
          <p:cNvSpPr/>
          <p:nvPr/>
        </p:nvSpPr>
        <p:spPr>
          <a:xfrm>
            <a:off x="5204460" y="1737360"/>
            <a:ext cx="2628900" cy="777240"/>
          </a:xfrm>
          <a:prstGeom prst="rect">
            <a:avLst/>
          </a:prstGeom>
          <a:solidFill>
            <a:srgbClr val="7A5BB5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04460" y="1737360"/>
            <a:ext cx="26289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P4</a:t>
            </a:r>
            <a:endParaRPr lang="en-US" sz="1600" dirty="0"/>
          </a:p>
        </p:txBody>
      </p:sp>
      <p:sp>
        <p:nvSpPr>
          <p:cNvPr id="15" name="Tramo Gantt"/>
          <p:cNvSpPr/>
          <p:nvPr/>
        </p:nvSpPr>
        <p:spPr>
          <a:xfrm>
            <a:off x="7833360" y="1737360"/>
            <a:ext cx="3505200" cy="777240"/>
          </a:xfrm>
          <a:prstGeom prst="rect">
            <a:avLst/>
          </a:prstGeom>
          <a:solidFill>
            <a:srgbClr val="C0463C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33360" y="1737360"/>
            <a:ext cx="350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0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8679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3012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1775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9301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10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5590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16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24</a:t>
            </a:r>
            <a:endParaRPr lang="en-US" sz="1300" dirty="0"/>
          </a:p>
        </p:txBody>
      </p:sp>
      <p:sp>
        <p:nvSpPr>
          <p:cNvPr id="24" name="Tarjeta"/>
          <p:cNvSpPr/>
          <p:nvPr/>
        </p:nvSpPr>
        <p:spPr>
          <a:xfrm>
            <a:off x="548640" y="3246120"/>
            <a:ext cx="3520440" cy="29718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49808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Cómo está hecho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" y="37947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Planificador.php: match() elige el algoritmo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no expropiativos eligen entre los que ya llegaron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SRTF decide en cada unidad de tiempo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Tramos consecutivos del mismo proceso se unen</a:t>
            </a:r>
            <a:endParaRPr lang="en-US" sz="1400" dirty="0"/>
          </a:p>
        </p:txBody>
      </p:sp>
      <p:sp>
        <p:nvSpPr>
          <p:cNvPr id="27" name="Tarjeta"/>
          <p:cNvSpPr/>
          <p:nvPr/>
        </p:nvSpPr>
        <p:spPr>
          <a:xfrm>
            <a:off x="4334256" y="3246120"/>
            <a:ext cx="3520440" cy="29718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535424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Reglas de desempate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35424" y="37947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Gana el que llegó primero, luego el de menor índice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RR: los que llegan durante el quantum entran antes que el expropiado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CPU ociosa se marca con «—»</a:t>
            </a:r>
            <a:endParaRPr lang="en-US" sz="1400" dirty="0"/>
          </a:p>
        </p:txBody>
      </p:sp>
      <p:sp>
        <p:nvSpPr>
          <p:cNvPr id="30" name="Tarjeta"/>
          <p:cNvSpPr/>
          <p:nvPr/>
        </p:nvSpPr>
        <p:spPr>
          <a:xfrm>
            <a:off x="8119872" y="3246120"/>
            <a:ext cx="3520440" cy="29718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321040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Validación y pruebas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37947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 a 15 procesos, enteros de 0 a 100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Administrador guarda simulaciones en SQLite (JSON)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PHPUnit: espera de los 5 algoritmos y Gantt de SRTF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 — Interbloqueos: algoritmo del banquero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Algoritmo de seguridad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Necesidad = Máximo − Asignación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4871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Trabajo = Disponible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3558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Buscar un Pi sin terminar con Necesidad ≤ Trabajo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2245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existe: Trabajo += Asignación de Pi y Pi termina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7240" y="5166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509320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Repetir; si todos terminan, el estado es seguro y se obtiene la secuencia</a:t>
            </a:r>
            <a:endParaRPr lang="en-US" sz="1400" dirty="0"/>
          </a:p>
        </p:txBody>
      </p:sp>
      <p:sp>
        <p:nvSpPr>
          <p:cNvPr id="19" name="Tarjeta"/>
          <p:cNvSpPr/>
          <p:nvPr/>
        </p:nvSpPr>
        <p:spPr>
          <a:xfrm>
            <a:off x="6199632" y="1371600"/>
            <a:ext cx="544068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428232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Ejemplo seguro (Silberschatz)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428232" y="2103120"/>
            <a:ext cx="713232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28232" y="210312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P1</a:t>
            </a:r>
            <a:endParaRPr lang="en-US" sz="1600" dirty="0"/>
          </a:p>
        </p:txBody>
      </p:sp>
      <p:sp>
        <p:nvSpPr>
          <p:cNvPr id="23" name="Flecha"/>
          <p:cNvSpPr/>
          <p:nvPr/>
        </p:nvSpPr>
        <p:spPr>
          <a:xfrm>
            <a:off x="7159752" y="2386584"/>
            <a:ext cx="21031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388352" y="2103120"/>
            <a:ext cx="713232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88352" y="210312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P3</a:t>
            </a:r>
            <a:endParaRPr lang="en-US" sz="1600" dirty="0"/>
          </a:p>
        </p:txBody>
      </p:sp>
      <p:sp>
        <p:nvSpPr>
          <p:cNvPr id="26" name="Flecha"/>
          <p:cNvSpPr/>
          <p:nvPr/>
        </p:nvSpPr>
        <p:spPr>
          <a:xfrm>
            <a:off x="8119872" y="2386584"/>
            <a:ext cx="21031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348472" y="2103120"/>
            <a:ext cx="713232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48472" y="210312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P4</a:t>
            </a:r>
            <a:endParaRPr lang="en-US" sz="1600" dirty="0"/>
          </a:p>
        </p:txBody>
      </p:sp>
      <p:sp>
        <p:nvSpPr>
          <p:cNvPr id="29" name="Flecha"/>
          <p:cNvSpPr/>
          <p:nvPr/>
        </p:nvSpPr>
        <p:spPr>
          <a:xfrm>
            <a:off x="9079992" y="2386584"/>
            <a:ext cx="21031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308592" y="2103120"/>
            <a:ext cx="713232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308592" y="210312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P0</a:t>
            </a:r>
            <a:endParaRPr lang="en-US" sz="1600" dirty="0"/>
          </a:p>
        </p:txBody>
      </p:sp>
      <p:sp>
        <p:nvSpPr>
          <p:cNvPr id="32" name="Flecha"/>
          <p:cNvSpPr/>
          <p:nvPr/>
        </p:nvSpPr>
        <p:spPr>
          <a:xfrm>
            <a:off x="10040112" y="2386584"/>
            <a:ext cx="21031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10268712" y="2103120"/>
            <a:ext cx="713232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268712" y="210312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P2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428232" y="2834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Secuencia segura ⟨P1, P3, P4, P0, P2⟩ con 5 procesos y 3 recursos (A, B, C).</a:t>
            </a:r>
            <a:endParaRPr lang="en-US" sz="1400" dirty="0"/>
          </a:p>
        </p:txBody>
      </p:sp>
      <p:sp>
        <p:nvSpPr>
          <p:cNvPr id="36" name="Tarjeta"/>
          <p:cNvSpPr/>
          <p:nvPr/>
        </p:nvSpPr>
        <p:spPr>
          <a:xfrm>
            <a:off x="6199632" y="3840480"/>
            <a:ext cx="544068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6428232" y="3959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Evaluar una solicitud de Pi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6428232" y="43891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Solicitud ≤ Necesidad; si no, error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Solicitud ≤ Disponible; si no, Pi espera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 simula la asignación y se revisa que siga seguro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P1 pide (1, 0, 2): se concede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 — Grafo de asignación y detección de ciclos</a:t>
            </a:r>
            <a:endParaRPr lang="en-US" sz="3400" dirty="0"/>
          </a:p>
        </p:txBody>
      </p:sp>
      <p:sp>
        <p:nvSpPr>
          <p:cNvPr id="4" name="Flecha"/>
          <p:cNvSpPr/>
          <p:nvPr/>
        </p:nvSpPr>
        <p:spPr>
          <a:xfrm>
            <a:off x="3701831" y="2313432"/>
            <a:ext cx="601839" cy="347472"/>
          </a:xfrm>
          <a:prstGeom prst="line">
            <a:avLst/>
          </a:prstGeom>
          <a:noFill/>
          <a:ln w="31750">
            <a:solidFill>
              <a:srgbClr val="D9922B"/>
            </a:solidFill>
            <a:prstDash val="solid"/>
            <a:tailEnd type="triangle"/>
          </a:ln>
        </p:spPr>
      </p:sp>
      <p:sp>
        <p:nvSpPr>
          <p:cNvPr id="5" name="Flecha"/>
          <p:cNvSpPr/>
          <p:nvPr/>
        </p:nvSpPr>
        <p:spPr>
          <a:xfrm>
            <a:off x="4683779" y="3300984"/>
            <a:ext cx="0" cy="694944"/>
          </a:xfrm>
          <a:prstGeom prst="line">
            <a:avLst/>
          </a:prstGeom>
          <a:noFill/>
          <a:ln w="31750">
            <a:solidFill>
              <a:srgbClr val="C0463C"/>
            </a:solidFill>
            <a:prstDash val="solid"/>
            <a:tailEnd type="triangle"/>
          </a:ln>
        </p:spPr>
      </p:sp>
      <p:sp>
        <p:nvSpPr>
          <p:cNvPr id="6" name="Flecha"/>
          <p:cNvSpPr/>
          <p:nvPr/>
        </p:nvSpPr>
        <p:spPr>
          <a:xfrm flipH="1">
            <a:off x="3717669" y="4645152"/>
            <a:ext cx="601839" cy="347472"/>
          </a:xfrm>
          <a:prstGeom prst="line">
            <a:avLst/>
          </a:prstGeom>
          <a:noFill/>
          <a:ln w="31750">
            <a:solidFill>
              <a:srgbClr val="D9922B"/>
            </a:solidFill>
            <a:prstDash val="solid"/>
            <a:tailEnd type="triangle"/>
          </a:ln>
        </p:spPr>
      </p:sp>
      <p:sp>
        <p:nvSpPr>
          <p:cNvPr id="7" name="Flecha"/>
          <p:cNvSpPr/>
          <p:nvPr/>
        </p:nvSpPr>
        <p:spPr>
          <a:xfrm flipH="1" flipV="1">
            <a:off x="2371450" y="4654296"/>
            <a:ext cx="601839" cy="347472"/>
          </a:xfrm>
          <a:prstGeom prst="line">
            <a:avLst/>
          </a:prstGeom>
          <a:noFill/>
          <a:ln w="31750">
            <a:solidFill>
              <a:srgbClr val="C0463C"/>
            </a:solidFill>
            <a:prstDash val="solid"/>
            <a:tailEnd type="triangle"/>
          </a:ln>
        </p:spPr>
      </p:sp>
      <p:sp>
        <p:nvSpPr>
          <p:cNvPr id="8" name="Flecha"/>
          <p:cNvSpPr/>
          <p:nvPr/>
        </p:nvSpPr>
        <p:spPr>
          <a:xfrm flipH="1" flipV="1">
            <a:off x="1991341" y="3319272"/>
            <a:ext cx="0" cy="694944"/>
          </a:xfrm>
          <a:prstGeom prst="line">
            <a:avLst/>
          </a:prstGeom>
          <a:noFill/>
          <a:ln w="31750">
            <a:solidFill>
              <a:srgbClr val="D9922B"/>
            </a:solidFill>
            <a:prstDash val="solid"/>
            <a:tailEnd type="triangle"/>
          </a:ln>
        </p:spPr>
      </p:sp>
      <p:sp>
        <p:nvSpPr>
          <p:cNvPr id="9" name="Flecha"/>
          <p:cNvSpPr/>
          <p:nvPr/>
        </p:nvSpPr>
        <p:spPr>
          <a:xfrm flipV="1">
            <a:off x="2355612" y="2322576"/>
            <a:ext cx="601839" cy="347472"/>
          </a:xfrm>
          <a:prstGeom prst="line">
            <a:avLst/>
          </a:prstGeom>
          <a:noFill/>
          <a:ln w="31750">
            <a:solidFill>
              <a:srgbClr val="C0463C"/>
            </a:solidFill>
            <a:prstDash val="solid"/>
            <a:tailEnd type="triangle"/>
          </a:ln>
        </p:spPr>
      </p:sp>
      <p:sp>
        <p:nvSpPr>
          <p:cNvPr id="10" name="Proceso"/>
          <p:cNvSpPr/>
          <p:nvPr/>
        </p:nvSpPr>
        <p:spPr>
          <a:xfrm>
            <a:off x="2953512" y="1719072"/>
            <a:ext cx="768096" cy="7680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953512" y="17190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P0</a:t>
            </a:r>
            <a:endParaRPr lang="en-US" sz="1800" dirty="0"/>
          </a:p>
        </p:txBody>
      </p:sp>
      <p:sp>
        <p:nvSpPr>
          <p:cNvPr id="12" name="Recurso"/>
          <p:cNvSpPr/>
          <p:nvPr/>
        </p:nvSpPr>
        <p:spPr>
          <a:xfrm>
            <a:off x="4299731" y="2496312"/>
            <a:ext cx="768096" cy="768096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299731" y="24963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Proceso"/>
          <p:cNvSpPr/>
          <p:nvPr/>
        </p:nvSpPr>
        <p:spPr>
          <a:xfrm>
            <a:off x="4299731" y="4050792"/>
            <a:ext cx="768096" cy="7680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299731" y="40507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P1</a:t>
            </a:r>
            <a:endParaRPr lang="en-US" sz="1800" dirty="0"/>
          </a:p>
        </p:txBody>
      </p:sp>
      <p:sp>
        <p:nvSpPr>
          <p:cNvPr id="16" name="Recurso"/>
          <p:cNvSpPr/>
          <p:nvPr/>
        </p:nvSpPr>
        <p:spPr>
          <a:xfrm>
            <a:off x="2953512" y="4828032"/>
            <a:ext cx="768096" cy="768096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953512" y="4828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Proceso"/>
          <p:cNvSpPr/>
          <p:nvPr/>
        </p:nvSpPr>
        <p:spPr>
          <a:xfrm>
            <a:off x="1607293" y="4050792"/>
            <a:ext cx="768096" cy="7680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1607293" y="40507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P2</a:t>
            </a:r>
            <a:endParaRPr lang="en-US" sz="1800" dirty="0"/>
          </a:p>
        </p:txBody>
      </p:sp>
      <p:sp>
        <p:nvSpPr>
          <p:cNvPr id="20" name="Recurso"/>
          <p:cNvSpPr/>
          <p:nvPr/>
        </p:nvSpPr>
        <p:spPr>
          <a:xfrm>
            <a:off x="1607293" y="2496312"/>
            <a:ext cx="768096" cy="768096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607293" y="24963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989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5A"/>
                </a:solidFill>
              </a:rPr>
              <a:t>●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proceso    </a:t>
            </a:r>
            <a:pPr algn="ctr" indent="0" marL="0">
              <a:buNone/>
            </a:pPr>
            <a:r>
              <a:rPr lang="en-US" sz="1200" b="1" dirty="0">
                <a:solidFill>
                  <a:srgbClr val="2F7DA3"/>
                </a:solidFill>
              </a:rPr>
              <a:t>■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recurso    </a:t>
            </a:r>
            <a:pPr algn="ctr" indent="0" marL="0">
              <a:buNone/>
            </a:pPr>
            <a:r>
              <a:rPr lang="en-US" sz="1200" b="1" dirty="0">
                <a:solidFill>
                  <a:srgbClr val="D9922B"/>
                </a:solidFill>
              </a:rPr>
              <a:t>→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solicita    </a:t>
            </a:r>
            <a:pPr algn="ctr" indent="0" marL="0">
              <a:buNone/>
            </a:pPr>
            <a:r>
              <a:rPr lang="en-US" sz="1200" b="1" dirty="0">
                <a:solidFill>
                  <a:srgbClr val="C0463C"/>
                </a:solidFill>
              </a:rPr>
              <a:t>→ 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asignado</a:t>
            </a:r>
            <a:endParaRPr lang="en-US" sz="1200" dirty="0"/>
          </a:p>
        </p:txBody>
      </p:sp>
      <p:sp>
        <p:nvSpPr>
          <p:cNvPr id="23" name="Tarjeta"/>
          <p:cNvSpPr/>
          <p:nvPr/>
        </p:nvSpPr>
        <p:spPr>
          <a:xfrm>
            <a:off x="6492240" y="1371600"/>
            <a:ext cx="5148072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720840" y="14813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Detección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720840" y="184708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Aristas P→R (solicita) y R→P (asignado). Se buscan ciclos con DFS (hasta 10) y los procesos que no pueden terminar quedan bloqueados.</a:t>
            </a:r>
            <a:endParaRPr lang="en-US" sz="1400" dirty="0"/>
          </a:p>
        </p:txBody>
      </p:sp>
      <p:sp>
        <p:nvSpPr>
          <p:cNvPr id="26" name="Tarjeta"/>
          <p:cNvSpPr/>
          <p:nvPr/>
        </p:nvSpPr>
        <p:spPr>
          <a:xfrm>
            <a:off x="6492240" y="3017520"/>
            <a:ext cx="5148072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720840" y="3127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Condiciones de Coffman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720840" y="349300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Exclusión mutua · retención y espera · sin apropiación · espera circular.</a:t>
            </a:r>
            <a:endParaRPr lang="en-US" sz="1400" dirty="0"/>
          </a:p>
        </p:txBody>
      </p:sp>
      <p:sp>
        <p:nvSpPr>
          <p:cNvPr id="29" name="Tarjeta"/>
          <p:cNvSpPr/>
          <p:nvPr/>
        </p:nvSpPr>
        <p:spPr>
          <a:xfrm>
            <a:off x="6492240" y="4663440"/>
            <a:ext cx="5148072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720840" y="47731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Recuperación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720840" y="513892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Terminación: abortar P0, la víctima que desbloquea a más procesos con menor costo. Apropiación: quitarle recursos y volver a un punto de control.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 — Almacenamiento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417320"/>
            <a:ext cx="352044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írculo de ícono"/>
          <p:cNvSpPr/>
          <p:nvPr/>
        </p:nvSpPr>
        <p:spPr>
          <a:xfrm>
            <a:off x="777240" y="1618488"/>
            <a:ext cx="594360" cy="594360"/>
          </a:xfrm>
          <a:prstGeom prst="ellipse">
            <a:avLst/>
          </a:prstGeom>
          <a:solidFill>
            <a:srgbClr val="2F7DA3"/>
          </a:solidFill>
          <a:ln w="12700">
            <a:solidFill>
              <a:srgbClr val="2F7DA3"/>
            </a:solidFill>
            <a:prstDash val="solid"/>
          </a:ln>
        </p:spPr>
      </p:sp>
      <p:pic>
        <p:nvPicPr>
          <p:cNvPr id="6" name="Image 0" descr="Hd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67078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618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Discos y particiones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3774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lsblk -J: disco, partición, sistema de archivos, montaje y tabla MBR o GPT</a:t>
            </a:r>
            <a:endParaRPr lang="en-US" sz="1400" dirty="0"/>
          </a:p>
        </p:txBody>
      </p:sp>
      <p:sp>
        <p:nvSpPr>
          <p:cNvPr id="9" name="Tarjeta"/>
          <p:cNvSpPr/>
          <p:nvPr/>
        </p:nvSpPr>
        <p:spPr>
          <a:xfrm>
            <a:off x="4334256" y="1417320"/>
            <a:ext cx="352044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írculo de ícono"/>
          <p:cNvSpPr/>
          <p:nvPr/>
        </p:nvSpPr>
        <p:spPr>
          <a:xfrm>
            <a:off x="4562856" y="1618488"/>
            <a:ext cx="594360" cy="59436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11" name="Image 1" descr="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446" y="1767078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40096" y="1618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Uso de sistemas de archivos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62856" y="23774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df -h sin tmpfs ni overlay; barra verde &lt; 70 %, ámbar 70–90 %, roja &gt; 90 %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8119872" y="1417320"/>
            <a:ext cx="352044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írculo de ícono"/>
          <p:cNvSpPr/>
          <p:nvPr/>
        </p:nvSpPr>
        <p:spPr>
          <a:xfrm>
            <a:off x="8348472" y="1618488"/>
            <a:ext cx="594360" cy="594360"/>
          </a:xfrm>
          <a:prstGeom prst="ellipse">
            <a:avLst/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</p:spPr>
      </p:sp>
      <p:pic>
        <p:nvPicPr>
          <p:cNvPr id="16" name="Image 2" descr="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062" y="1767078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25712" y="1618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Montajes persistentes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348472" y="23774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findmnt --fstab -J; si falla, se lee /etc/fstab</a:t>
            </a:r>
            <a:endParaRPr lang="en-US" sz="1400" dirty="0"/>
          </a:p>
        </p:txBody>
      </p:sp>
      <p:sp>
        <p:nvSpPr>
          <p:cNvPr id="19" name="Tarjeta"/>
          <p:cNvSpPr/>
          <p:nvPr/>
        </p:nvSpPr>
        <p:spPr>
          <a:xfrm>
            <a:off x="548640" y="3840480"/>
            <a:ext cx="352044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Círculo de ícono"/>
          <p:cNvSpPr/>
          <p:nvPr/>
        </p:nvSpPr>
        <p:spPr>
          <a:xfrm>
            <a:off x="777240" y="4041648"/>
            <a:ext cx="594360" cy="594360"/>
          </a:xfrm>
          <a:prstGeom prst="ellipse">
            <a:avLst/>
          </a:prstGeom>
          <a:solidFill>
            <a:srgbClr val="D9922B"/>
          </a:solidFill>
          <a:ln w="12700">
            <a:solidFill>
              <a:srgbClr val="D9922B"/>
            </a:solidFill>
            <a:prstDash val="solid"/>
          </a:ln>
        </p:spPr>
      </p:sp>
      <p:pic>
        <p:nvPicPr>
          <p:cNvPr id="21" name="Image 3" descr="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90238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54480" y="4041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Usuarios del sistema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800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/etc/passwd: humano = UID ≥ 1000, distinto de 65534 y con shell de login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4334256" y="3840480"/>
            <a:ext cx="352044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Círculo de ícono"/>
          <p:cNvSpPr/>
          <p:nvPr/>
        </p:nvSpPr>
        <p:spPr>
          <a:xfrm>
            <a:off x="4562856" y="4041648"/>
            <a:ext cx="594360" cy="594360"/>
          </a:xfrm>
          <a:prstGeom prst="ellipse">
            <a:avLst/>
          </a:prstGeom>
          <a:solidFill>
            <a:srgbClr val="C0463C"/>
          </a:solidFill>
          <a:ln w="12700">
            <a:solidFill>
              <a:srgbClr val="C0463C"/>
            </a:solidFill>
            <a:prstDash val="solid"/>
          </a:ln>
        </p:spPr>
      </p:sp>
      <p:pic>
        <p:nvPicPr>
          <p:cNvPr id="26" name="Image 4" descr="Termin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446" y="4190238"/>
            <a:ext cx="297180" cy="2971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40096" y="4041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Sesiones activas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62856" y="4800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who: usuario, terminal, desde cuándo y origen</a:t>
            </a:r>
            <a:endParaRPr lang="en-US" sz="1400" dirty="0"/>
          </a:p>
        </p:txBody>
      </p:sp>
      <p:sp>
        <p:nvSpPr>
          <p:cNvPr id="29" name="Tarjeta"/>
          <p:cNvSpPr/>
          <p:nvPr/>
        </p:nvSpPr>
        <p:spPr>
          <a:xfrm>
            <a:off x="8119872" y="3840480"/>
            <a:ext cx="352044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Círculo de ícono"/>
          <p:cNvSpPr/>
          <p:nvPr/>
        </p:nvSpPr>
        <p:spPr>
          <a:xfrm>
            <a:off x="8348472" y="4041648"/>
            <a:ext cx="594360" cy="594360"/>
          </a:xfrm>
          <a:prstGeom prst="ellipse">
            <a:avLst/>
          </a:prstGeom>
          <a:solidFill>
            <a:srgbClr val="14201B"/>
          </a:solidFill>
          <a:ln w="12700">
            <a:solidFill>
              <a:srgbClr val="14201B"/>
            </a:solidFill>
            <a:prstDash val="solid"/>
          </a:ln>
        </p:spPr>
      </p:sp>
      <p:pic>
        <p:nvPicPr>
          <p:cNvPr id="31" name="Image 5" descr="FolderOp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062" y="4190238"/>
            <a:ext cx="297180" cy="29718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25712" y="40416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Explorador de solo lectura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348472" y="4800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scandir y lstat dentro de /var/www; realpath() bloquea «..» y enlaces simbólicos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trabajo en GitHub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46304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03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protegida, sin push directo</a:t>
            </a:r>
            <a:endParaRPr lang="en-US" sz="1300" dirty="0"/>
          </a:p>
        </p:txBody>
      </p:sp>
      <p:sp>
        <p:nvSpPr>
          <p:cNvPr id="7" name="Flecha"/>
          <p:cNvSpPr/>
          <p:nvPr/>
        </p:nvSpPr>
        <p:spPr>
          <a:xfrm>
            <a:off x="2505456" y="2176272"/>
            <a:ext cx="29260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arjeta"/>
          <p:cNvSpPr/>
          <p:nvPr/>
        </p:nvSpPr>
        <p:spPr>
          <a:xfrm>
            <a:off x="2834640" y="146304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92608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feature/mX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2944368" y="2103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rama por módulo</a:t>
            </a:r>
            <a:endParaRPr lang="en-US" sz="1300" dirty="0"/>
          </a:p>
        </p:txBody>
      </p:sp>
      <p:sp>
        <p:nvSpPr>
          <p:cNvPr id="11" name="Flecha"/>
          <p:cNvSpPr/>
          <p:nvPr/>
        </p:nvSpPr>
        <p:spPr>
          <a:xfrm>
            <a:off x="4791456" y="2176272"/>
            <a:ext cx="29260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arjeta"/>
          <p:cNvSpPr/>
          <p:nvPr/>
        </p:nvSpPr>
        <p:spPr>
          <a:xfrm>
            <a:off x="5120640" y="146304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21208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230368" y="2103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«M3: algoritmo SRTF»</a:t>
            </a:r>
            <a:endParaRPr lang="en-US" sz="1300" dirty="0"/>
          </a:p>
        </p:txBody>
      </p:sp>
      <p:sp>
        <p:nvSpPr>
          <p:cNvPr id="15" name="Flecha"/>
          <p:cNvSpPr/>
          <p:nvPr/>
        </p:nvSpPr>
        <p:spPr>
          <a:xfrm>
            <a:off x="7077456" y="2176272"/>
            <a:ext cx="29260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arjeta"/>
          <p:cNvSpPr/>
          <p:nvPr/>
        </p:nvSpPr>
        <p:spPr>
          <a:xfrm>
            <a:off x="7406640" y="146304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49808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Pull Request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516368" y="2103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hacia main</a:t>
            </a:r>
            <a:endParaRPr lang="en-US" sz="1300" dirty="0"/>
          </a:p>
        </p:txBody>
      </p:sp>
      <p:sp>
        <p:nvSpPr>
          <p:cNvPr id="19" name="Flecha"/>
          <p:cNvSpPr/>
          <p:nvPr/>
        </p:nvSpPr>
        <p:spPr>
          <a:xfrm>
            <a:off x="9363456" y="2176272"/>
            <a:ext cx="29260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arjeta"/>
          <p:cNvSpPr/>
          <p:nvPr/>
        </p:nvSpPr>
        <p:spPr>
          <a:xfrm>
            <a:off x="9692640" y="146304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78408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Revisión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802368" y="21031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otro integrante aprueba; M6 hace merge</a:t>
            </a:r>
            <a:endParaRPr lang="en-US" sz="1300" dirty="0"/>
          </a:p>
        </p:txBody>
      </p:sp>
      <p:sp>
        <p:nvSpPr>
          <p:cNvPr id="23" name="Tarjeta"/>
          <p:cNvSpPr/>
          <p:nvPr/>
        </p:nvSpPr>
        <p:spPr>
          <a:xfrm>
            <a:off x="548640" y="3200400"/>
            <a:ext cx="544068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7724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Reglas del equipo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37947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Mínimo 10 commits significativos por integrante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quien sube solo los archivos de su módulo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Tareas como Issues en el tablero del proyecto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mensajes empiezan con el código del módulo</a:t>
            </a:r>
            <a:endParaRPr lang="en-US" sz="1600" dirty="0"/>
          </a:p>
        </p:txBody>
      </p:sp>
      <p:sp>
        <p:nvSpPr>
          <p:cNvPr id="26" name="Tarjeta"/>
          <p:cNvSpPr/>
          <p:nvPr/>
        </p:nvSpPr>
        <p:spPr>
          <a:xfrm>
            <a:off x="6199632" y="3200400"/>
            <a:ext cx="544068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428232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Orden de merge a main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428232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28232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086600" y="37947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M6: base común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ComandoSeguro, ProcReader, layout y rutas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428232" y="4617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28232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086600" y="45720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M1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M2 usa Procesos.php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428232" y="5394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28232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7086600" y="5349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M2, M3, M4, M5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en cualquier orden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de la presentación del sábado 31 de octubre</a:t>
            </a:r>
            <a:endParaRPr lang="en-US" sz="3400" dirty="0"/>
          </a:p>
        </p:txBody>
      </p:sp>
      <p:sp>
        <p:nvSpPr>
          <p:cNvPr id="4" name="Tarjeta"/>
          <p:cNvSpPr/>
          <p:nvPr/>
        </p:nvSpPr>
        <p:spPr>
          <a:xfrm>
            <a:off x="548640" y="141732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írculo de ícono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</p:sp>
      <p:pic>
        <p:nvPicPr>
          <p:cNvPr id="6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28800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Presencial y obligatoria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517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Asisten todos los integrantes. Cada uno expone su módulo funcionando.</a:t>
            </a:r>
            <a:endParaRPr lang="en-US" sz="1600" dirty="0"/>
          </a:p>
        </p:txBody>
      </p:sp>
      <p:sp>
        <p:nvSpPr>
          <p:cNvPr id="9" name="Tarjeta"/>
          <p:cNvSpPr/>
          <p:nvPr/>
        </p:nvSpPr>
        <p:spPr>
          <a:xfrm>
            <a:off x="6199632" y="141732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írculo de ícono"/>
          <p:cNvSpPr/>
          <p:nvPr/>
        </p:nvSpPr>
        <p:spPr>
          <a:xfrm>
            <a:off x="6473952" y="1691640"/>
            <a:ext cx="731520" cy="731520"/>
          </a:xfrm>
          <a:prstGeom prst="ellipse">
            <a:avLst/>
          </a:prstGeom>
          <a:solidFill>
            <a:srgbClr val="2F7DA3"/>
          </a:solidFill>
          <a:ln w="12700">
            <a:solidFill>
              <a:srgbClr val="2F7DA3"/>
            </a:solidFill>
            <a:prstDash val="solid"/>
          </a:ln>
        </p:spPr>
      </p:sp>
      <p:pic>
        <p:nvPicPr>
          <p:cNvPr id="11" name="Image 1" descr="Glo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8745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79792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Demostración en vivo desde la URL pública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6473952" y="26517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No se aceptan demostraciones locales ni se requiere video demostrativo.</a:t>
            </a:r>
            <a:endParaRPr lang="en-US" sz="1600" dirty="0"/>
          </a:p>
        </p:txBody>
      </p:sp>
      <p:sp>
        <p:nvSpPr>
          <p:cNvPr id="14" name="Tarjeta"/>
          <p:cNvSpPr/>
          <p:nvPr/>
        </p:nvSpPr>
        <p:spPr>
          <a:xfrm>
            <a:off x="548640" y="388620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írculo de ícono"/>
          <p:cNvSpPr/>
          <p:nvPr/>
        </p:nvSpPr>
        <p:spPr>
          <a:xfrm>
            <a:off x="822960" y="4160520"/>
            <a:ext cx="731520" cy="731520"/>
          </a:xfrm>
          <a:prstGeom prst="ellipse">
            <a:avLst/>
          </a:prstGeom>
          <a:solidFill>
            <a:srgbClr val="7A5BB5"/>
          </a:solidFill>
          <a:ln w="12700">
            <a:solidFill>
              <a:srgbClr val="7A5BB5"/>
            </a:solidFill>
            <a:prstDash val="solid"/>
          </a:ln>
        </p:spPr>
      </p:sp>
      <p:pic>
        <p:nvPicPr>
          <p:cNvPr id="16" name="Image 2" descr="Question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434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828800" y="4160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Preguntas individuales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22960" y="51206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Cada integrante responde sobre el código de su módulo y el concepto de SO que aplica.</a:t>
            </a:r>
            <a:endParaRPr lang="en-US" sz="1600" dirty="0"/>
          </a:p>
        </p:txBody>
      </p:sp>
      <p:sp>
        <p:nvSpPr>
          <p:cNvPr id="19" name="Tarjeta"/>
          <p:cNvSpPr/>
          <p:nvPr/>
        </p:nvSpPr>
        <p:spPr>
          <a:xfrm>
            <a:off x="6199632" y="3886200"/>
            <a:ext cx="54406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Círculo de ícono"/>
          <p:cNvSpPr/>
          <p:nvPr/>
        </p:nvSpPr>
        <p:spPr>
          <a:xfrm>
            <a:off x="6473952" y="4160520"/>
            <a:ext cx="731520" cy="731520"/>
          </a:xfrm>
          <a:prstGeom prst="ellipse">
            <a:avLst/>
          </a:prstGeom>
          <a:solidFill>
            <a:srgbClr val="D9922B"/>
          </a:solidFill>
          <a:ln w="12700">
            <a:solidFill>
              <a:srgbClr val="D9922B"/>
            </a:solidFill>
            <a:prstDash val="solid"/>
          </a:ln>
        </p:spPr>
      </p:sp>
      <p:pic>
        <p:nvPicPr>
          <p:cNvPr id="21" name="Image 3" descr="Termin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3434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79792" y="4160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VM accesible por SSH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6473952" y="51206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Pueden pedir mostrar un archivo de /proc o ejecutar un comando en vivo.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demostración en vivo</a:t>
            </a:r>
            <a:endParaRPr lang="en-US" sz="3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39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Módulo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Qué se demuestra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M6 Integración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Login como Administrador, dashboard y bitácora; con Observador no hay botones ni bitácora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M1 Procesos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Lanzar sleep → SIGSTOP (T) → SIGCONT (S) → renice 10 → SIGTERM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M2 CPU y Memoria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Gráficas en vivo; lanzar la carga de CPU y ver subir un núcleo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M3 Planificación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Botón Ejemplo: espera FCFS 8.20 · SJF 5.60 · SRTF 5.20 · RR 10.60 · Prioridades 7.80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M4 Interbloqueos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Ejemplo seguro y solicitud de P1 (1, 0, 2); ejemplo con interbloqueo y ciclo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M5 Almacenamiento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Discos, uso de df, /etc/fstab, usuarios, sesiones y explorador de /var/www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Todo se muestra desde la URL pública del grupo, no desde la máquina local.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de respaldo por SSH</a:t>
            </a:r>
            <a:endParaRPr lang="en-US" sz="3400" dirty="0"/>
          </a:p>
        </p:txBody>
      </p:sp>
      <p:sp>
        <p:nvSpPr>
          <p:cNvPr id="4" name="Panel terminal"/>
          <p:cNvSpPr/>
          <p:nvPr/>
        </p:nvSpPr>
        <p:spPr>
          <a:xfrm>
            <a:off x="548640" y="1371600"/>
            <a:ext cx="11091672" cy="4846320"/>
          </a:xfrm>
          <a:prstGeom prst="roundRect">
            <a:avLst>
              <a:gd name="adj" fmla="val 1887"/>
            </a:avLst>
          </a:prstGeom>
          <a:solidFill>
            <a:srgbClr val="0B1210"/>
          </a:solidFill>
          <a:ln w="12700">
            <a:solidFill>
              <a:srgbClr val="2B3A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/proc/loadavg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45236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M2 · carga 1, 5 y 15 min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385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-5 /proc/meminfo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1938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M2 · memoria total, libre y disponible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2257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-3 /proc/stat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322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M2 · jiffies de CPU total y por núcleo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7066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/proc | head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2706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M1 · un directorio por PID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0906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/proc/$$/stat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452360" y="3090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M1 · campos de un proceso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474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-E 'Uid|VmRSS' /proc/$$/status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M1 · dueño y memoria residente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8587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-eo pid,ppid,stat,ni,comm | head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3858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M1 · estado, padre y nice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24281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lsblk ; df -h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452360" y="42428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M5 · discos y uso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2686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findmnt --fstab ; who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452360" y="46268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M5 · montajes y sesiones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0109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apache2ctl -S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452360" y="50109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Despliegue · VirtualHost activo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394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status apache2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5394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Despliegue · servicio activo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7790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-n 30 /var/log/apache2/sysmonitor_error.log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452360" y="5779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A"/>
                </a:solidFill>
              </a:rPr>
              <a:t>Despliegue · errores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FB3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de SO que aplica cada módulo</a:t>
            </a:r>
            <a:endParaRPr lang="en-US" sz="3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480560"/>
                <a:gridCol w="5422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Módulo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Concepto de sistemas operativos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Preguntas probables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M1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Procesos: estados, información del proceso, señales y prioridad (nice)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¿Qué es un zombi? ¿SIGSTOP vs SIGKILL? ¿Por qué solo se sube el nice?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M2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CPU y memoria: tiempos de CPU, carga, RAM, caché y swap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¿Cómo se calcula el % de CPU? ¿Qué es la carga promedio?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M3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Planificación: FCFS, SJF, SRTF, Round Robin y prioridades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¿Cuál minimiza la espera? ¿Qué es la inanición? ¿Efecto del quantum?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M4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Interbloqueos: banquero, estado seguro, grafo de asignación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Condiciones de Coffman; estado seguro vs interbloqueo; recuperación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M5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Archivos y dispositivos: particiones, montaje, permisos y usuarios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¿Qué hace /etc/fstab? ¿MBR vs GPT? ¿Qué es un UID?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M6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Seguridad y servicios: autenticación, privilegios y auditoría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¿Por qué www-data sin sudo? ¿Qué registra la bitácora? ¿Qué hace el VirtualHost?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CFE3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SysMonitor Web · Proyecto Final de Sistemas Operativos · Grupo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66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AA"/>
                </a:solidFill>
              </a:rPr>
              <a:t>Sábado 31 de octubre de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sMonitor">
  <a:themeElements>
    <a:clrScheme name="SysMonitor">
      <a:dk1>
        <a:srgbClr val="14201B"/>
      </a:dk1>
      <a:lt1>
        <a:srgbClr val="FFFFFF"/>
      </a:lt1>
      <a:dk2>
        <a:srgbClr val="1F7A5A"/>
      </a:dk2>
      <a:lt2>
        <a:srgbClr val="F2F6F4"/>
      </a:lt2>
      <a:accent1>
        <a:srgbClr val="1F7A5A"/>
      </a:accent1>
      <a:accent2>
        <a:srgbClr val="D9922B"/>
      </a:accent2>
      <a:accent3>
        <a:srgbClr val="2F7DA3"/>
      </a:accent3>
      <a:accent4>
        <a:srgbClr val="C0463C"/>
      </a:accent4>
      <a:accent5>
        <a:srgbClr val="52625A"/>
      </a:accent5>
      <a:accent6>
        <a:srgbClr val="7A5BB5"/>
      </a:accent6>
      <a:hlink>
        <a:srgbClr val="2F7DA3"/>
      </a:hlink>
      <a:folHlink>
        <a:srgbClr val="7A5BB5"/>
      </a:folHlink>
    </a:clrScheme>
    <a:fontScheme name="SysMoni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SysMonitor Web — Proyecto Final de Sistemas Operativos (Grupo 3)</dc:title>
  <dc:subject>PptxGenJS Presentation</dc:subject>
  <dc:creator>Grupo 3</dc:creator>
  <cp:lastModifiedBy>Grupo 3</cp:lastModifiedBy>
  <cp:revision>1</cp:revision>
  <dcterms:created xsi:type="dcterms:W3CDTF">2026-10-24T18:05:44Z</dcterms:created>
  <dcterms:modified xsi:type="dcterms:W3CDTF">2026-10-24T18:05:44Z</dcterms:modified>
</cp:coreProperties>
</file>